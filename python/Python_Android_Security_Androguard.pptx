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75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122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16305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1119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× ANDROID SECURITY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آموزش پایتون برای ارزیابی امنیتی اپلیکیشن‌های اندروید</a:t>
            </a:r>
            <a:endParaRPr lang="en-US" sz="3800" dirty="0">
              <a:cs typeface="B Nazanin" panose="00000400000000000000" pitchFamily="2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9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 </a:t>
            </a:r>
            <a:r>
              <a:rPr lang="en-US" sz="19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تمرکز</a:t>
            </a:r>
            <a:r>
              <a:rPr lang="en-US" sz="19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عملی بر کتابخانه </a:t>
            </a:r>
            <a:r>
              <a:rPr lang="en-US" sz="1900" i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Androguard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66928" y="4434840"/>
            <a:ext cx="201168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سطح: مقدماتی تا متوسط  •  شامل مثال‌های عملی کد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3017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سرفصل مطالب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در این جلسه چه می‌آموزیم؟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چرا پایتون برای امنیت موبایل؟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ساختار اپلیکیشن اندروید (APK)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5246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928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5820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ایستا در برابر تحلیل پویا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7435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11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اکوسیستم ابزارهای امنیتی پایتون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38912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394" y="37435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23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معرفی و معماری Androguard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22960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9874" y="37435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2928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5820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نصب، راه‌اندازی و اجزای اصلی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54864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914" y="5389474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61188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77724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مثال‌های عملی: مجوزها، اجزا، API های حساس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438912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61772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394" y="5389474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45236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461772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پایپ‌لاین یک ارزیابی امنیتی واقعی</a:t>
            </a:r>
            <a:endParaRPr lang="en-US" sz="1350" dirty="0"/>
          </a:p>
        </p:txBody>
      </p:sp>
      <p:sp>
        <p:nvSpPr>
          <p:cNvPr id="44" name="Shape 34"/>
          <p:cNvSpPr/>
          <p:nvPr/>
        </p:nvSpPr>
        <p:spPr>
          <a:xfrm>
            <a:off x="822960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45820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9874" y="5389474"/>
            <a:ext cx="285293" cy="28529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129284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45820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محدودیت‌ها، نکات مهم و منابع تکمیلی</a:t>
            </a:r>
            <a:endParaRPr lang="en-US" sz="1350" dirty="0"/>
          </a:p>
        </p:txBody>
      </p:sp>
      <p:sp>
        <p:nvSpPr>
          <p:cNvPr id="49" name="Text 3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۱ از 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مقدمه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چرا پایتون برای ارزیابی امنیتی موبایل؟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خوانایی و سرعت توسعه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نوشتن اسکریپت‌های تحلیل و اتوماسیون در چند خط، بدون سربار زبان‌های سطح پایین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84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اکوسیستم غنی ابزارها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Androguard، Frida، MobSF، apktool و ده‌ها کتابخانه امنیتی دیگر بر پایه پایتون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یکپارچگی با پایپ‌لاین‌ها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امکان اتصال به CI/CD، تولید گزارش خودکار و پردازش دسته‌ای صدها APK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جامعه و مستندات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منابع آموزشی فراوان و پشتیبانی گسترده جامعه امنیت سایبری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۱ از 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3611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مبانی اندروید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ساختار یک بسته اندروید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(APK)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یک فایل APK در واقع یک بایگانی ZIP است که اجزای زیر را در خود جای داده است: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377440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250033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13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AndroidManifest.xml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642616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مجوزها، اجزا (Activity/Service/Receiver)، نسخه SDK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081528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3218688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27" y="334158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classes.dex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417320" y="348386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بایت‌کد کامپایل‌شده اپلیکیشن به‌فرمت Dalvik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922776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4059936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27" y="4182831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995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resources.arsc + res/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17320" y="432511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منابع گرافیکی، رشته‌ها و تنظیمات چیدمان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764024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232" y="4901184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27" y="5024079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8371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 و assets/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417320" y="516636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کتابخانه‌های native (.so) و فایل‌های خام برنامه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605272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232" y="5742432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127" y="5865327"/>
            <a:ext cx="266273" cy="26627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6784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META-INF/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417320" y="6007608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امضای دیجیتال و گواهی‌های اعتبارسنجی بسته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778240" y="224028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16305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829800" y="2514600"/>
            <a:ext cx="777240" cy="777240"/>
          </a:xfrm>
          <a:prstGeom prst="ellipse">
            <a:avLst/>
          </a:prstGeom>
          <a:solidFill>
            <a:srgbClr val="0D2038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6338" y="2701138"/>
            <a:ext cx="404165" cy="40416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7824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app.apk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77824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.zip archive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9006840" y="4251960"/>
            <a:ext cx="237744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961120" y="4434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۵ فایل / پوشه اصلی</a:t>
            </a:r>
            <a:endParaRPr lang="en-US" sz="1150" dirty="0"/>
          </a:p>
          <a:p>
            <a:pPr marL="0" indent="0" algn="ctr" rtl="1">
              <a:buNone/>
            </a:pPr>
            <a:r>
              <a:rPr lang="en-US" sz="11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نقطه شروع هر تحلیل امنیتی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44" y="40457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روش‌های تحلیل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تحلیل ایستا در برابر تحلیل پویا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12240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ایستا (Static)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بررسی کد و منابع بدون اجرای برنامه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مجوزها، Activityها و رشته‌ها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 اصلی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این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جلسه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Androguard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سریع، قابل اتوماسیون، بدون نیاز به دستگاه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12240"/>
          </a:solidFill>
          <a:ln w="15240">
            <a:solidFill>
              <a:srgbClr val="5CC9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579" y="23024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پویا (Dynamic)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اجرای برنامه روی دستگاه یا شبیه‌ساز واقعی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رصد رفتار در زمان اجرا (شبکه، فایل، حافظه)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ابزارهایی مانند Frida و mitmproxy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دقیق‌تر اما زمان‌برتر و پیچیده‌تر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608076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 این آموزش، تمرکز اصلی بر تحلیل ایستا با Androguard است.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7296" y="43219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ابزارها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اکوسیستم ابزارهای امنیتی پایتون برای اندروید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305A"/>
          </a:solidFill>
          <a:ln w="19050">
            <a:solidFill>
              <a:srgbClr val="00E5A0"/>
            </a:solidFill>
            <a:prstDash val="solid"/>
          </a:ln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0D203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90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Androguard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ایستای APK، Manifest و بایت‌کد Dalvik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161848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تمرکز این جلسه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74136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5676" y="2286000"/>
            <a:ext cx="822960" cy="822960"/>
          </a:xfrm>
          <a:prstGeom prst="ellipse">
            <a:avLst/>
          </a:prstGeom>
          <a:solidFill>
            <a:srgbClr val="0D203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186" y="24835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Frida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57016" y="37490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تزریق کد و تحلیل پویا در زمان اجرا (Hooking)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99632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91172" y="2286000"/>
            <a:ext cx="822960" cy="822960"/>
          </a:xfrm>
          <a:prstGeom prst="ellipse">
            <a:avLst/>
          </a:prstGeom>
          <a:solidFill>
            <a:srgbClr val="0D203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682" y="24835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36792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MobSF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82512" y="37490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پلتفرم خودکار ارزیابی امنیتی موبایل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25128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16668" y="2286000"/>
            <a:ext cx="822960" cy="822960"/>
          </a:xfrm>
          <a:prstGeom prst="ellipse">
            <a:avLst/>
          </a:prstGeom>
          <a:solidFill>
            <a:srgbClr val="0D203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4178" y="248351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2288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apktool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08008" y="37490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دیس‌اسمبلی منابع و بازسازی بسته APK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ANDROGUARD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Androguard چیست؟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8240" y="1828800"/>
            <a:ext cx="1920240" cy="19202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098" y="2289658"/>
            <a:ext cx="998525" cy="998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کتابخانه متن‌باز پایتون برای مهندسی معکوس و تحلیل استاتیک اپلیکیشن‌های اندروید</a:t>
            </a:r>
            <a:endParaRPr lang="en-US" sz="1550" dirty="0"/>
          </a:p>
          <a:p>
            <a:pPr marL="342900" indent="-342900" algn="r" rtl="1"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قادر به پردازش مستقیم فایل‌های APK، DEX و ODEX بدون نیاز به ابزار جانبی</a:t>
            </a:r>
            <a:endParaRPr lang="en-US" sz="1550" dirty="0"/>
          </a:p>
          <a:p>
            <a:pPr marL="342900" indent="-342900" algn="r" rtl="1"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امکان دیس‌اسمبلی بایت‌کد Dalvik به سطح Smali و بازسازی گراف کنترل جریان</a:t>
            </a:r>
            <a:endParaRPr lang="en-US" sz="1550" dirty="0"/>
          </a:p>
          <a:p>
            <a:pPr marL="342900" indent="-342900" algn="r" rtl="1"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به‌طور گسترده در تحقیقات آکادمیک و ابزارهایی مانند MobSF استفاده می‌شود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1224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257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androguard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ANDROGUARD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معماری و اجزای اصلی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Androguard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3134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کلاس اصلی برای بارگذاری بسته: مجوزها، Manifest، اجزا و منابع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54680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74136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4256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3134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DalvikVMFormat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57016" y="342900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پردازش فایل‌های classes.dex و دسترسی به کلاس‌ها و متدها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80176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199632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9752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3134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82512" y="342900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ساخت گراف فراخوانی (Call Graph) و تحلیل جریان داده بین متدها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805672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025128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85248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23134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16568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decompiler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08008" y="342900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بازسازی نمایش شبه‌کد Java از بایت‌کد Dalvik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623560"/>
            <a:ext cx="11082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جریان کار</a:t>
            </a: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APK  -&gt;  </a:t>
            </a:r>
            <a:r>
              <a:rPr lang="en-US" sz="120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DalvikVMFormat</a:t>
            </a: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Analysis  -&gt;  </a:t>
            </a: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خروجی قابل تفسیر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شروع به کار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نصب و راه‌اندازی محیط کار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پیش‌نیاز: پایتون نسخه ۳.۸ یا بالاتر</a:t>
            </a:r>
            <a:endParaRPr lang="en-US" sz="1450" dirty="0"/>
          </a:p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توصیه می‌شود از یک محیط مجازی (venv) استفاده شود</a:t>
            </a:r>
            <a:endParaRPr lang="en-US" sz="1450" dirty="0"/>
          </a:p>
          <a:p>
            <a:pPr marL="342900" indent="-342900" algn="r" rtl="1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نصب از طریق pip در چند ثانیه انجام می‌شود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24612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42900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33649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3649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33649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461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721608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venv venv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source venv/bin/activate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androguard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python3 -c "import androguard; print(androguard.__version__)"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4.1.2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۴ از 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4069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مثال کد </a:t>
            </a: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بارگذاری یک فایل APK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اولین قدم در هر تحلیل، بارگذاری بسته و دریافت سه شیء اصلی است: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766560" cy="3794760"/>
          </a:xfrm>
          <a:prstGeom prst="roundRect">
            <a:avLst>
              <a:gd name="adj" fmla="val 1928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676656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94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load_apk.py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androguard.misc import AnalyzeAPK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d, dx = AnalyzeAPK("sample.apk")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-&gt; APKشیء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  -&gt; شیء DalvikVMFormat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dx -&gt; شیءAnalysis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print(a.get_package())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print(a.get_androidversion_name())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0" y="2331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6680" y="251460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2679192"/>
            <a:ext cx="356616" cy="3566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503920" y="2423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0392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دسترسی به Manifest، مجوزها و اجزا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89520" y="3566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/>
        </p:spPr>
      </p:sp>
      <p:sp>
        <p:nvSpPr>
          <p:cNvPr id="19" name="Shape 16"/>
          <p:cNvSpPr/>
          <p:nvPr/>
        </p:nvSpPr>
        <p:spPr>
          <a:xfrm>
            <a:off x="7726680" y="37490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913632"/>
            <a:ext cx="356616" cy="3566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03920" y="3657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503920" y="4023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دسترسی به کلاس‌ها و بایت‌کد Dalvik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589520" y="4800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/>
        </p:spPr>
      </p:sp>
      <p:sp>
        <p:nvSpPr>
          <p:cNvPr id="24" name="Shape 20"/>
          <p:cNvSpPr/>
          <p:nvPr/>
        </p:nvSpPr>
        <p:spPr>
          <a:xfrm>
            <a:off x="7726680" y="498348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2" y="5148072"/>
            <a:ext cx="356616" cy="35661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03920" y="4892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503920" y="5257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گراف تحلیل و ارتباط بین متدها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4160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مثال کد </a:t>
            </a: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استخراج مجوزها از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AndroidManifest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مجوزهای درخواستی، اولین سرنخ برای شناسایی رفتار مشکوک یا حساس اپلیکیشن هستند</a:t>
            </a: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766560" cy="3794760"/>
          </a:xfrm>
          <a:prstGeom prst="roundRect">
            <a:avLst>
              <a:gd name="adj" fmla="val 1928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676656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94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perms = a.get_permissions()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dangerous = [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for p in perms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"DANGEROUS" in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a.get_permission_protection_level(p)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dangerous: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print(f"[!] {p}")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0" y="2194560"/>
            <a:ext cx="4023360" cy="3794760"/>
          </a:xfrm>
          <a:prstGeom prst="roundRect">
            <a:avLst>
              <a:gd name="adj" fmla="val 2169"/>
            </a:avLst>
          </a:prstGeom>
          <a:solidFill>
            <a:srgbClr val="11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مجوزهای پرریسک رایج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2880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0" y="3383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63840" y="3886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RECORD_AUDIO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0" y="4389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READ_CONTACTS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63840" y="4892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ACCESS_FINE_LOCATION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0" y="5394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SYSTEM_ALERT_WINDOW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00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مثال کد </a:t>
            </a: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بررسی اجزای اپلیکیشن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Activityها، Serviceها و Receiverها نقاط ورودی اصلی اپلیکیشن هستند و باید بررسی شوند.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94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10424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print("Activities:", a.get_activities())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print("Services:  ", a.get_services())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print("Receivers: ", a.get_receivers())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print("Exported:  ", [c for c in a.get_activities()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if a.get_element("activity", "exported", name=c)])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956048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5098694"/>
            <a:ext cx="309067" cy="30906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54480" y="48646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Exported = true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22960" y="53949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قابل فراخوانی از سایر اپلیکیشن‌ها؛ نیازمند بررسی دقیق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47548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</p:spPr>
      </p:sp>
      <p:sp>
        <p:nvSpPr>
          <p:cNvPr id="19" name="Shape 16"/>
          <p:cNvSpPr/>
          <p:nvPr/>
        </p:nvSpPr>
        <p:spPr>
          <a:xfrm>
            <a:off x="6309360" y="4956048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06" y="5098694"/>
            <a:ext cx="309067" cy="30906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48646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Filters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6355080" y="53949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بررسی شوند تا نقاط ورودی پنهان شناسایی شود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064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مثال کد </a:t>
            </a: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یافتن فراخوانی‌های API حساس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با استفاده از شیء Analysis می‌توان فراخوانی متدهای رمزنگاری، اجرای دستور یا شبکه را ردیابی کرد.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2880360"/>
          </a:xfrm>
          <a:prstGeom prst="roundRect">
            <a:avLst>
              <a:gd name="adj" fmla="val 254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94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find_sensitive_calls.py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104241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= [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("Ljavax/crypto/Cipher;", "getInstance"),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("Ljava/lang/Runtime;",  "exec"),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("Ldalvik/system/DexClassLoader;", "&lt;init&gt;"),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cls, method in targets: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 in dx.find_methods(classname=cls, methodname=method):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print(f"[FOUND] {m.class_name}-&gt;{m.name}")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Cipher.getInstance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رمزنگاری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دستی؛ بررسی الگوریتم و کلید ثابت</a:t>
            </a:r>
            <a:endParaRPr lang="en-US" sz="1250" dirty="0"/>
          </a:p>
          <a:p>
            <a:pPr marL="342900" indent="-342900" algn="r" rtl="1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Runtime.exec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اجرای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دستورات سیستم‌عامل؛ ریسک تزریق فرمان</a:t>
            </a:r>
            <a:endParaRPr lang="en-US" sz="1250" dirty="0"/>
          </a:p>
          <a:p>
            <a:pPr marL="342900" indent="-342900" algn="r" rtl="1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DexClassLoader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بارگذاری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پویای کد؛ رایج در بدافزارها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40457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مثال کد </a:t>
            </a: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دیس‌اسمبلی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بهSmali</a:t>
            </a:r>
            <a:r>
              <a:rPr lang="fa-I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و شبه‌کد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0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548640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disassemble.py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04288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= dx.get_method_analysis_by_name(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"Lcom/example/Login;",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"checkPassword",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"(Ljava/lang/String;)Z"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ins in method.get_method().get_instructions():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print(ins.get_output())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نمایش شبه‌کد Java 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print(method.get_method().get_source())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11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خروجی نمونه (Smali)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const-string v0, "admin123"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invoke-virtual {v1, v0}, Ljava/lang/String;-&gt;equals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337560"/>
            <a:ext cx="475488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5204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این نمونه یک رمز عبور ثابت («Hardcoded»)</a:t>
            </a:r>
            <a:endParaRPr lang="en-US" sz="13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را مستقیماً در بایت‌کد فاش </a:t>
            </a:r>
            <a:r>
              <a:rPr lang="en-US" sz="13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می‌کند</a:t>
            </a: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: </a:t>
            </a:r>
            <a:r>
              <a:rPr lang="en-US" sz="13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یکی</a:t>
            </a: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از</a:t>
            </a:r>
            <a:endParaRPr lang="en-US" sz="13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رایج‌ترین یافته‌های ارزیابی امنیتی</a:t>
            </a: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2968" y="42743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تحلیل پیشرفته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گراف فراخوانی و ردیابی جریان داده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شیء Analysis امکان ردیابی می‌دهد که داده </a:t>
            </a:r>
            <a:r>
              <a:rPr lang="en-US" sz="14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حساس</a:t>
            </a: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مثلاً</a:t>
            </a: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 IMEI</a:t>
            </a:r>
            <a:r>
              <a:rPr lang="fa-IR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 از کجا خوانده و در نهایت به کجا ارسال می‌شود</a:t>
            </a: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8" y="265176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8008" y="2651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TelephonyManager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.getDeviceId()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35528" y="30175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E5A0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87088" y="265176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9050">
            <a:solidFill>
              <a:srgbClr val="5CC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7088" y="2651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متد میانی</a:t>
            </a:r>
            <a:endParaRPr lang="en-US" sz="1300" dirty="0">
              <a:cs typeface="B Nazanin" panose="00000400000000000000" pitchFamily="2" charset="-78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(پردازش</a:t>
            </a: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ذخیره</a:t>
            </a: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04608" y="30175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E5A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56168" y="265176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56168" y="2651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HttpURLConnection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.getOutputStream()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3434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5262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44622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4622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" y="44622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343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trace_source_to_sink.py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81888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 = dx.find_methods(classname="Landroid/telephony/TelephonyManager;", methodname="getDeviceId")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sink = dx.find_methods(classname="Ljava/net/HttpURLConnection;", methodname="getOutputStream")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 = dx.get_all_paths(list(src)[0], list(sink)[0])  # </a:t>
            </a: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ردیابی مسیر بین دو متد</a:t>
            </a:r>
            <a:endParaRPr lang="en-US" sz="1350" dirty="0">
              <a:cs typeface="B Nazanin" panose="00000400000000000000" pitchFamily="2" charset="-7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1314" y="491817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کاربرد عملی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پایپ‌لاین یک ارزیابی امنیتی واقعی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0284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1724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71804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27486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1724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دریافت نمونه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7444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جمع‌آوری فایل APK از منبع مورد ارزیابی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497684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53716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845156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85236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882" y="274868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45156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اطلاعات پایه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890876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Manifest، مجوزها، اجزا و امضای دیجیتال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11116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67148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158588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798668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314" y="2748686"/>
            <a:ext cx="309067" cy="3090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58588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جست‌وجوی الگو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204308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یافتن API های حساس، کلیدهای ثابت و URL ها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124548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380580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47202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112100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4746" y="2748686"/>
            <a:ext cx="309067" cy="30906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72020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جریان داده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51774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ردیابی مسیر داده حساس تا خروجی شبکه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437980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694012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9785452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0425532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8178" y="2748686"/>
            <a:ext cx="309067" cy="30906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85452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تولید گزارش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831172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خروجی ساخت‌یافته (JSON/CSV) برای بازبینی تیم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۷ از ۹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3977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نکات مهم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محدودیت‌ها و نکات هشدار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 w="12700">
            <a:solidFill>
              <a:srgbClr val="3A2233"/>
            </a:solidFill>
            <a:prstDash val="solid"/>
          </a:ln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کدهای</a:t>
            </a: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obfuscate</a:t>
            </a:r>
            <a:r>
              <a:rPr lang="fa-IR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و رمزنگاری‌شده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ابزارهای static analysis در برابر کدهای پیچیده‌شده (obfuscated) یا بارگذاری پویای کد دچار محدودیت می‌شوند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 w="12700">
            <a:solidFill>
              <a:srgbClr val="3A2233"/>
            </a:solidFill>
            <a:prstDash val="solid"/>
          </a:ln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848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r>
              <a:rPr lang="fa-IR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بالا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یافتن یک API حساس به‌معنی وجود آسیب‌پذیری قطعی نیست؛ نیاز به بررسی دستی دارد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 w="12700">
            <a:solidFill>
              <a:srgbClr val="3A2233"/>
            </a:solidFill>
            <a:prstDash val="solid"/>
          </a:ln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پوشش‌ندادن رفتار زمان اجرا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برخی رفتارهای مخرب فقط هنگام </a:t>
            </a:r>
            <a:r>
              <a:rPr lang="en-US" sz="12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اجرا</a:t>
            </a: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مثلاً</a:t>
            </a: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پس از دریافت دستور </a:t>
            </a:r>
            <a:r>
              <a:rPr lang="en-US" sz="12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از</a:t>
            </a: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سرور</a:t>
            </a: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آشکار می‌شوند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 w="12700">
            <a:solidFill>
              <a:srgbClr val="3A2233"/>
            </a:solidFill>
            <a:prstDash val="solid"/>
          </a:ln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ملاحظات قانونی و اخلاقی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ارزیابی امنیتی باید تنها با مجوز صریح و در چارچوب قانونی انجام شود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۸ از ۹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1224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852160" y="48668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جمع‌بندی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جمع‌بندی و منابع تکمیلی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پایتون + Androguard امکان تحلیل ایستای سریع و </a:t>
            </a:r>
            <a:r>
              <a:rPr lang="en-US" sz="15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اتوماسیون‌پذیر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APK</a:t>
            </a:r>
            <a:r>
              <a:rPr lang="fa-IR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را فراهم می‌کند</a:t>
            </a:r>
            <a:endParaRPr lang="en-US" sz="1500" dirty="0"/>
          </a:p>
          <a:p>
            <a:pPr marL="342900" indent="-342900" algn="r" rtl="1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شروع از سه شیء اصلی: APK، </a:t>
            </a:r>
            <a:r>
              <a:rPr lang="en-US" sz="15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DalvikVMFormat</a:t>
            </a:r>
            <a:r>
              <a:rPr lang="fa-IR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و Analysis</a:t>
            </a:r>
            <a:endParaRPr lang="en-US" sz="1500" dirty="0"/>
          </a:p>
          <a:p>
            <a:pPr marL="342900" indent="-342900" algn="r" rtl="1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بررسی مجوزها، اجزا، رشته‌های ثابت و API های حساس نقطه شروع هر ارزیابی است</a:t>
            </a:r>
            <a:endParaRPr lang="en-US" sz="1500" dirty="0"/>
          </a:p>
          <a:p>
            <a:pPr marL="342900" indent="-342900" algn="r" rtl="1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ایستا مکمل تحلیل پویا (Frida/MobSF) است، نه جایگزین آن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7772400" cy="1737360"/>
          </a:xfrm>
          <a:prstGeom prst="roundRect">
            <a:avLst>
              <a:gd name="adj" fmla="val 4737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منابع پیشنهادی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r>
              <a:rPr lang="en-US" sz="1250" dirty="0" err="1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مستندات</a:t>
            </a: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 </a:t>
            </a:r>
            <a:r>
              <a:rPr lang="en-US" sz="1250" dirty="0" err="1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رسمی</a:t>
            </a: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androguard.readthedocs.io</a:t>
            </a:r>
            <a:endParaRPr lang="en-US" sz="125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مخزن GitHub پروژه Androguard</a:t>
            </a:r>
            <a:endParaRPr lang="en-US" sz="125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• کتاب </a:t>
            </a: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«Android Security Internals» (Nikolay Elenkov)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52560" y="2834640"/>
            <a:ext cx="1828800" cy="1828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3273552"/>
            <a:ext cx="950976" cy="950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۹ از 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1682</Words>
  <Application>Microsoft Office PowerPoint</Application>
  <PresentationFormat>Widescreen</PresentationFormat>
  <Paragraphs>309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 Nazanin</vt:lpstr>
      <vt:lpstr>Calibri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آموزش پایتون برای ارزیابی امنیتی اندروید</dc:title>
  <dc:subject>PptxGenJS Presentation</dc:subject>
  <dc:creator>Python Security Training</dc:creator>
  <cp:lastModifiedBy>parniyan nakhei</cp:lastModifiedBy>
  <cp:revision>3</cp:revision>
  <dcterms:created xsi:type="dcterms:W3CDTF">2026-07-04T13:14:13Z</dcterms:created>
  <dcterms:modified xsi:type="dcterms:W3CDTF">2026-07-04T14:24:09Z</dcterms:modified>
</cp:coreProperties>
</file>