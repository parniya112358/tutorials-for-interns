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77" r:id="rId12"/>
    <p:sldId id="266" r:id="rId13"/>
    <p:sldId id="267" r:id="rId14"/>
    <p:sldId id="268" r:id="rId15"/>
    <p:sldId id="269" r:id="rId16"/>
    <p:sldId id="270" r:id="rId17"/>
    <p:sldId id="278" r:id="rId18"/>
    <p:sldId id="279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78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7C26BAE-AE4D-9290-C243-CF55C5614D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29" r="17216"/>
          <a:stretch>
            <a:fillRect/>
          </a:stretch>
        </p:blipFill>
        <p:spPr>
          <a:xfrm>
            <a:off x="8705873" y="3977640"/>
            <a:ext cx="3486127" cy="2883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hape 0"/>
          <p:cNvSpPr/>
          <p:nvPr/>
        </p:nvSpPr>
        <p:spPr>
          <a:xfrm>
            <a:off x="8511236" y="-1740208"/>
            <a:ext cx="5486400" cy="5486400"/>
          </a:xfrm>
          <a:prstGeom prst="ellipse">
            <a:avLst/>
          </a:prstGeom>
          <a:solidFill>
            <a:srgbClr val="11224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× ANDROID SECURITY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آموزش پایتون و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Androguard</a:t>
            </a:r>
            <a:r>
              <a:rPr lang="fa-IR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برای ارزیابی امنیتی اندروید</a:t>
            </a:r>
            <a:endParaRPr lang="en-US" sz="3400" dirty="0">
              <a:cs typeface="B Nazanin" panose="00000400000000000000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800" i="1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بررسی عملی و استخراج آسیب‌پذیری‌های واقعی از اپلیکیشن DIVA</a:t>
            </a:r>
            <a:endParaRPr lang="en-US" sz="1800" dirty="0">
              <a:cs typeface="B Nazanin" panose="00000400000000000000" pitchFamily="2" charset="-7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4434840"/>
            <a:ext cx="201168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سطح: مقدماتی تا متوسط  •  شامل مثال‌های عملی کد روی DIVA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CF7437-95E1-6D5F-C1DA-B17FFE20F973}"/>
              </a:ext>
            </a:extLst>
          </p:cNvPr>
          <p:cNvSpPr/>
          <p:nvPr/>
        </p:nvSpPr>
        <p:spPr>
          <a:xfrm>
            <a:off x="8695398" y="3886200"/>
            <a:ext cx="3823283" cy="3263207"/>
          </a:xfrm>
          <a:custGeom>
            <a:avLst/>
            <a:gdLst>
              <a:gd name="csX0" fmla="*/ 0 w 3579433"/>
              <a:gd name="csY0" fmla="*/ 0 h 2917940"/>
              <a:gd name="csX1" fmla="*/ 3579433 w 3579433"/>
              <a:gd name="csY1" fmla="*/ 0 h 2917940"/>
              <a:gd name="csX2" fmla="*/ 3579433 w 3579433"/>
              <a:gd name="csY2" fmla="*/ 2917940 h 2917940"/>
              <a:gd name="csX3" fmla="*/ 0 w 3579433"/>
              <a:gd name="csY3" fmla="*/ 2917940 h 2917940"/>
              <a:gd name="csX4" fmla="*/ 0 w 3579433"/>
              <a:gd name="csY4" fmla="*/ 0 h 2917940"/>
              <a:gd name="csX0" fmla="*/ 18661 w 3579433"/>
              <a:gd name="csY0" fmla="*/ 0 h 2927270"/>
              <a:gd name="csX1" fmla="*/ 3579433 w 3579433"/>
              <a:gd name="csY1" fmla="*/ 9330 h 2927270"/>
              <a:gd name="csX2" fmla="*/ 3579433 w 3579433"/>
              <a:gd name="csY2" fmla="*/ 2927270 h 2927270"/>
              <a:gd name="csX3" fmla="*/ 0 w 3579433"/>
              <a:gd name="csY3" fmla="*/ 2927270 h 2927270"/>
              <a:gd name="csX4" fmla="*/ 18661 w 3579433"/>
              <a:gd name="csY4" fmla="*/ 0 h 2927270"/>
              <a:gd name="csX0" fmla="*/ 18661 w 3579433"/>
              <a:gd name="csY0" fmla="*/ 2800 h 2930070"/>
              <a:gd name="csX1" fmla="*/ 400804 w 3579433"/>
              <a:gd name="csY1" fmla="*/ 0 h 2930070"/>
              <a:gd name="csX2" fmla="*/ 3579433 w 3579433"/>
              <a:gd name="csY2" fmla="*/ 12130 h 2930070"/>
              <a:gd name="csX3" fmla="*/ 3579433 w 3579433"/>
              <a:gd name="csY3" fmla="*/ 2930070 h 2930070"/>
              <a:gd name="csX4" fmla="*/ 0 w 3579433"/>
              <a:gd name="csY4" fmla="*/ 2930070 h 2930070"/>
              <a:gd name="csX5" fmla="*/ 18661 w 3579433"/>
              <a:gd name="csY5" fmla="*/ 2800 h 2930070"/>
              <a:gd name="csX0" fmla="*/ 18661 w 3579433"/>
              <a:gd name="csY0" fmla="*/ 2800 h 2930070"/>
              <a:gd name="csX1" fmla="*/ 400804 w 3579433"/>
              <a:gd name="csY1" fmla="*/ 0 h 2930070"/>
              <a:gd name="csX2" fmla="*/ 3579433 w 3579433"/>
              <a:gd name="csY2" fmla="*/ 12130 h 2930070"/>
              <a:gd name="csX3" fmla="*/ 3579433 w 3579433"/>
              <a:gd name="csY3" fmla="*/ 2930070 h 2930070"/>
              <a:gd name="csX4" fmla="*/ 0 w 3579433"/>
              <a:gd name="csY4" fmla="*/ 2930070 h 2930070"/>
              <a:gd name="csX5" fmla="*/ 83564 w 3579433"/>
              <a:gd name="csY5" fmla="*/ 130629 h 2930070"/>
              <a:gd name="csX6" fmla="*/ 18661 w 3579433"/>
              <a:gd name="csY6" fmla="*/ 2800 h 2930070"/>
              <a:gd name="csX0" fmla="*/ 111968 w 3579433"/>
              <a:gd name="csY0" fmla="*/ 152090 h 2930070"/>
              <a:gd name="csX1" fmla="*/ 400804 w 3579433"/>
              <a:gd name="csY1" fmla="*/ 0 h 2930070"/>
              <a:gd name="csX2" fmla="*/ 3579433 w 3579433"/>
              <a:gd name="csY2" fmla="*/ 12130 h 2930070"/>
              <a:gd name="csX3" fmla="*/ 3579433 w 3579433"/>
              <a:gd name="csY3" fmla="*/ 2930070 h 2930070"/>
              <a:gd name="csX4" fmla="*/ 0 w 3579433"/>
              <a:gd name="csY4" fmla="*/ 2930070 h 2930070"/>
              <a:gd name="csX5" fmla="*/ 83564 w 3579433"/>
              <a:gd name="csY5" fmla="*/ 130629 h 2930070"/>
              <a:gd name="csX6" fmla="*/ 111968 w 3579433"/>
              <a:gd name="csY6" fmla="*/ 152090 h 2930070"/>
              <a:gd name="csX0" fmla="*/ 29483 w 3496948"/>
              <a:gd name="csY0" fmla="*/ 152090 h 2930070"/>
              <a:gd name="csX1" fmla="*/ 318319 w 3496948"/>
              <a:gd name="csY1" fmla="*/ 0 h 2930070"/>
              <a:gd name="csX2" fmla="*/ 3496948 w 3496948"/>
              <a:gd name="csY2" fmla="*/ 12130 h 2930070"/>
              <a:gd name="csX3" fmla="*/ 3496948 w 3496948"/>
              <a:gd name="csY3" fmla="*/ 2930070 h 2930070"/>
              <a:gd name="csX4" fmla="*/ 10821 w 3496948"/>
              <a:gd name="csY4" fmla="*/ 2902078 h 2930070"/>
              <a:gd name="csX5" fmla="*/ 1079 w 3496948"/>
              <a:gd name="csY5" fmla="*/ 130629 h 2930070"/>
              <a:gd name="csX6" fmla="*/ 29483 w 3496948"/>
              <a:gd name="csY6" fmla="*/ 152090 h 2930070"/>
              <a:gd name="csX0" fmla="*/ 29483 w 3496948"/>
              <a:gd name="csY0" fmla="*/ 152090 h 2902078"/>
              <a:gd name="csX1" fmla="*/ 318319 w 3496948"/>
              <a:gd name="csY1" fmla="*/ 0 h 2902078"/>
              <a:gd name="csX2" fmla="*/ 3496948 w 3496948"/>
              <a:gd name="csY2" fmla="*/ 12130 h 2902078"/>
              <a:gd name="csX3" fmla="*/ 3422303 w 3496948"/>
              <a:gd name="csY3" fmla="*/ 2808772 h 2902078"/>
              <a:gd name="csX4" fmla="*/ 10821 w 3496948"/>
              <a:gd name="csY4" fmla="*/ 2902078 h 2902078"/>
              <a:gd name="csX5" fmla="*/ 1079 w 3496948"/>
              <a:gd name="csY5" fmla="*/ 130629 h 2902078"/>
              <a:gd name="csX6" fmla="*/ 29483 w 3496948"/>
              <a:gd name="csY6" fmla="*/ 152090 h 2902078"/>
              <a:gd name="csX0" fmla="*/ 29483 w 3450295"/>
              <a:gd name="csY0" fmla="*/ 152090 h 2902078"/>
              <a:gd name="csX1" fmla="*/ 318319 w 3450295"/>
              <a:gd name="csY1" fmla="*/ 0 h 2902078"/>
              <a:gd name="csX2" fmla="*/ 3450295 w 3450295"/>
              <a:gd name="csY2" fmla="*/ 124098 h 2902078"/>
              <a:gd name="csX3" fmla="*/ 3422303 w 3450295"/>
              <a:gd name="csY3" fmla="*/ 2808772 h 2902078"/>
              <a:gd name="csX4" fmla="*/ 10821 w 3450295"/>
              <a:gd name="csY4" fmla="*/ 2902078 h 2902078"/>
              <a:gd name="csX5" fmla="*/ 1079 w 3450295"/>
              <a:gd name="csY5" fmla="*/ 130629 h 2902078"/>
              <a:gd name="csX6" fmla="*/ 29483 w 3450295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152090 h 2902078"/>
              <a:gd name="csX1" fmla="*/ 318319 w 3483101"/>
              <a:gd name="csY1" fmla="*/ 0 h 2902078"/>
              <a:gd name="csX2" fmla="*/ 3450295 w 3483101"/>
              <a:gd name="csY2" fmla="*/ 124098 h 2902078"/>
              <a:gd name="csX3" fmla="*/ 3422303 w 3483101"/>
              <a:gd name="csY3" fmla="*/ 2808772 h 2902078"/>
              <a:gd name="csX4" fmla="*/ 10821 w 3483101"/>
              <a:gd name="csY4" fmla="*/ 2902078 h 2902078"/>
              <a:gd name="csX5" fmla="*/ 1079 w 3483101"/>
              <a:gd name="csY5" fmla="*/ 130629 h 2902078"/>
              <a:gd name="csX6" fmla="*/ 29483 w 3483101"/>
              <a:gd name="csY6" fmla="*/ 152090 h 2902078"/>
              <a:gd name="csX0" fmla="*/ 29483 w 3483101"/>
              <a:gd name="csY0" fmla="*/ 226771 h 2976759"/>
              <a:gd name="csX1" fmla="*/ 318319 w 3483101"/>
              <a:gd name="csY1" fmla="*/ 74681 h 2976759"/>
              <a:gd name="csX2" fmla="*/ 3450295 w 3483101"/>
              <a:gd name="csY2" fmla="*/ 198779 h 2976759"/>
              <a:gd name="csX3" fmla="*/ 3422303 w 3483101"/>
              <a:gd name="csY3" fmla="*/ 2883453 h 2976759"/>
              <a:gd name="csX4" fmla="*/ 10821 w 3483101"/>
              <a:gd name="csY4" fmla="*/ 2976759 h 2976759"/>
              <a:gd name="csX5" fmla="*/ 1079 w 3483101"/>
              <a:gd name="csY5" fmla="*/ 205310 h 2976759"/>
              <a:gd name="csX6" fmla="*/ 29483 w 3483101"/>
              <a:gd name="csY6" fmla="*/ 226771 h 2976759"/>
              <a:gd name="csX0" fmla="*/ 29483 w 3687685"/>
              <a:gd name="csY0" fmla="*/ 226771 h 2976759"/>
              <a:gd name="csX1" fmla="*/ 318319 w 3687685"/>
              <a:gd name="csY1" fmla="*/ 74681 h 2976759"/>
              <a:gd name="csX2" fmla="*/ 3450295 w 3687685"/>
              <a:gd name="csY2" fmla="*/ 198779 h 2976759"/>
              <a:gd name="csX3" fmla="*/ 3472066 w 3687685"/>
              <a:gd name="csY3" fmla="*/ 2640601 h 2976759"/>
              <a:gd name="csX4" fmla="*/ 3422303 w 3687685"/>
              <a:gd name="csY4" fmla="*/ 2883453 h 2976759"/>
              <a:gd name="csX5" fmla="*/ 10821 w 3687685"/>
              <a:gd name="csY5" fmla="*/ 2976759 h 2976759"/>
              <a:gd name="csX6" fmla="*/ 1079 w 3687685"/>
              <a:gd name="csY6" fmla="*/ 205310 h 2976759"/>
              <a:gd name="csX7" fmla="*/ 29483 w 3687685"/>
              <a:gd name="csY7" fmla="*/ 226771 h 29767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687685" h="2976759">
                <a:moveTo>
                  <a:pt x="29483" y="226771"/>
                </a:moveTo>
                <a:cubicBezTo>
                  <a:pt x="110211" y="219617"/>
                  <a:pt x="237591" y="81835"/>
                  <a:pt x="318319" y="74681"/>
                </a:cubicBezTo>
                <a:cubicBezTo>
                  <a:pt x="1362311" y="116047"/>
                  <a:pt x="3246058" y="-187820"/>
                  <a:pt x="3450295" y="198779"/>
                </a:cubicBezTo>
                <a:cubicBezTo>
                  <a:pt x="3968144" y="596885"/>
                  <a:pt x="3476731" y="2193155"/>
                  <a:pt x="3472066" y="2640601"/>
                </a:cubicBezTo>
                <a:cubicBezTo>
                  <a:pt x="3467401" y="3088047"/>
                  <a:pt x="3991402" y="2797880"/>
                  <a:pt x="3422303" y="2883453"/>
                </a:cubicBezTo>
                <a:lnTo>
                  <a:pt x="10821" y="2976759"/>
                </a:lnTo>
                <a:cubicBezTo>
                  <a:pt x="16904" y="2043612"/>
                  <a:pt x="-5004" y="1138457"/>
                  <a:pt x="1079" y="205310"/>
                </a:cubicBezTo>
                <a:lnTo>
                  <a:pt x="29483" y="226771"/>
                </a:lnTo>
                <a:close/>
              </a:path>
            </a:pathLst>
          </a:custGeom>
          <a:solidFill>
            <a:srgbClr val="00206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سرفصل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مطالب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در این جلسه چه می‌آموزیم؟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چرا پایتون برای امنیت موبایل؟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ساختار اپلیکیشن اندروید (APK)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928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 در برابر تحلیل پویا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7435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11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معرفی و آسیب‌پذیری‌های DIVA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37435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معرفی و معماری Androguard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22960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874" y="37435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2928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نصب، راه‌اندازی و بارگذاری DIVA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4864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6118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7724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مجوزها، اجزا و رمزهای هاردکد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438912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61772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394" y="538947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523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461772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یافتن رمزنگاری ضعیف و دیس‌اسمبلی کد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822960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5820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9874" y="5389474"/>
            <a:ext cx="285293" cy="28529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29284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45820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جمع‌بندی یافته‌ها و منابع تکمیلی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7640" y="3977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مقدمه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چرا پایتون برای ارزیابی امنیتی موبایل؟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خوانایی و سرعت توسعه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نوشتن اسکریپت‌های تحلیل و اتوماسیون در چند خط، بدون سربار زبان‌های سطح پایین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اکوسیستم غنی ابزارها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Androguard، Frida، MobSF و ده‌ها کتابخانه امنیتی دیگر بر پایه پایتون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یکپارچگی با پایپ‌لاین‌ها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اتصال به CI/CD و پردازش دسته‌ای صدها اپلیکیشن به‌طور خودکار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جامعه و مستندات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آموزشی فراوان و پشتیبانی گسترده جامعه امنیت سایبری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37751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مبانی اندروید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ساختار یک بسته اندروید (APK)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یک فایل APK در واقع یک بایگانی ZIP است که اجزای زیر را در خود جای داده است: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377440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250033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13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AndroidManifest.xml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64261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مجوزها، اجزا (Activity/Service/Receiver)، نسخه SDK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081528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3218688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27" y="334158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classes.dex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17320" y="348386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بایت‌کد کامپایل‌شده اپلیکیشن به‌فرمت Dalvik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922776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4059936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27" y="4182831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995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resources.arsc + res/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17320" y="432511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گرافیکی، رشته‌ها و تنظیمات چیدمان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764024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232" y="4901184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27" y="5024079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8371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 و assets/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417320" y="516636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کتابخانه‌های native (.so) و فایل‌های خام برنامه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605272"/>
            <a:ext cx="7863840" cy="786384"/>
          </a:xfrm>
          <a:prstGeom prst="roundRect">
            <a:avLst>
              <a:gd name="adj" fmla="val 8140"/>
            </a:avLst>
          </a:prstGeom>
          <a:solidFill>
            <a:srgbClr val="112240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232" y="5742432"/>
            <a:ext cx="512064" cy="512064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27" y="5865327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6784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META-INF/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417320" y="600760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امضای دیجیتال و گواهی‌های اعتبارسنجی بسته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778240" y="224028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16305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829800" y="2514600"/>
            <a:ext cx="777240" cy="77724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6338" y="2701138"/>
            <a:ext cx="404165" cy="40416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diva.apk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778240" y="3794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.zip archive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006840" y="4251960"/>
            <a:ext cx="237744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961120" y="4434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۵ فایل / پوشه اصلی</a:t>
            </a:r>
            <a:endParaRPr lang="en-US" sz="1150" dirty="0"/>
          </a:p>
          <a:p>
            <a:pPr marL="0" indent="0" algn="ctr" rtl="1">
              <a:buNone/>
            </a:pPr>
            <a:r>
              <a:rPr lang="en-US" sz="11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نقطه شروع هر تحلیل امنیتی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0364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روش‌های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تحلیل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تحلیل ایستا در برابر تحلیل پویا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12240"/>
          </a:solidFill>
          <a:ln w="1524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ایستا (Static)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 کد و منابع بدون اجرای برنامه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مجوزها، Activityها و رشته‌ها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 اصلی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این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جلسه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Androguard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سریع، قابل اتوماسیون، بدون نیاز به دستگاه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12240"/>
          </a:solidFill>
          <a:ln w="15240">
            <a:solidFill>
              <a:srgbClr val="5CC9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79" y="23024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پویا (Dynamic)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اجرای برنامه روی دستگاه یا شبیه‌ساز واقعی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رصد رفتار در زمان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شبکه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، فایل،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حافظه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ابزارهایی </a:t>
            </a:r>
            <a:r>
              <a:rPr lang="en-US" sz="13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مانند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Frida</a:t>
            </a:r>
            <a:r>
              <a:rPr lang="fa-IR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و MobSF Dynamic Analyzer</a:t>
            </a:r>
            <a:endParaRPr lang="en-US" sz="13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دقیق‌تر اما زمان‌برتر و پیچیده‌تر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08076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 این آموزش، تمرکز اصلی بر تحلیل ایستا </a:t>
            </a:r>
            <a:r>
              <a:rPr lang="en-US" sz="125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</a:t>
            </a: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</a:t>
            </a:r>
            <a:r>
              <a:rPr lang="fa-IR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است.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معرفی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DIVA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اپلیکیشن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آسیب‌پذیر آموزشی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69680" y="1920240"/>
            <a:ext cx="1828800" cy="182880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2359152"/>
            <a:ext cx="950976" cy="950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1400"/>
              </a:spcAft>
              <a:buSzPct val="100000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 = Damn Insecure and Vulnerable App؛ اپلیکیشنی طراحی‌شده برای آموزش امنیت اندروید</a:t>
            </a:r>
            <a:endParaRPr lang="en-US" sz="1500" dirty="0"/>
          </a:p>
          <a:p>
            <a:pPr algn="r" rtl="1">
              <a:spcAft>
                <a:spcPts val="1400"/>
              </a:spcAft>
              <a:buSzPct val="100000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به‌صورت عمدی حاوی آسیب‌پذیری‌های رایج OWASP Mobile Top 10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است</a:t>
            </a:r>
            <a:endParaRPr lang="en-US" sz="1500" dirty="0"/>
          </a:p>
          <a:p>
            <a:pPr algn="r" rtl="1">
              <a:spcAft>
                <a:spcPts val="1400"/>
              </a:spcAft>
              <a:buSzPct val="100000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محیطی امن و قانونی برای تمرین ارزیابی امنیتی بدون نگرانی حقوقی</a:t>
            </a:r>
            <a:endParaRPr lang="en-US" sz="1500" dirty="0"/>
          </a:p>
          <a:p>
            <a:pPr algn="r" rtl="1">
              <a:spcAft>
                <a:spcPts val="1400"/>
              </a:spcAft>
              <a:buSzPct val="100000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متن‌باز و به‌صورت رایگان </a:t>
            </a:r>
            <a:r>
              <a:rPr lang="en-US" sz="15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روی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در دسترس است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github.com/payatu/diva-android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آسیب‌پذیری‌های موجود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در</a:t>
            </a: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 top 10 -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1049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87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Logging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9535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چاپ اطلاعات </a:t>
            </a:r>
            <a:r>
              <a:rPr lang="en-US" sz="108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حساس</a:t>
            </a: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رمز</a:t>
            </a: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عبوردر</a:t>
            </a: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Logcat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9976" y="1783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984248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845" y="210494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587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81144" y="29535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کلید API و رمز عبور به‌صورت ثابت در کد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84248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210494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587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Data Storage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412480" y="29535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ذخیره داده حساس در SharedPreferences بدون رمزنگاری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877056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3997757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عدم اعتبارسنجی ورودی، امکان SQL Injection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79976" y="3675888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877056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45" y="399775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Issues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81144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های Exported بدون کنترل دسترسی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211312" y="3675888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877056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3181" y="3997757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Cryptography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412480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استفاده از الگوریتم‌های رمزنگاری ضعیف یا کلید ثابت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Androguard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چیست؟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0" y="1828800"/>
            <a:ext cx="1920240" cy="19202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98" y="2289658"/>
            <a:ext cx="998525" cy="998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کتابخانه متن‌باز پایتون برای مهندسی معکوس و تحلیل استاتیک اپلیکیشن‌های اندروید</a:t>
            </a:r>
            <a:endParaRPr lang="en-US" sz="1550" dirty="0"/>
          </a:p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قادر به پردازش مستقیم فایل‌های APK، DEX و ODEX بدون نیاز به ابزار جانبی</a:t>
            </a:r>
            <a:endParaRPr lang="en-US" sz="1550" dirty="0"/>
          </a:p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دیس‌اسمبلی بایت‌کد Dalvik به سطح Smali و بازسازی گراف کنترل جریان</a:t>
            </a:r>
            <a:endParaRPr lang="en-US" sz="1550" dirty="0"/>
          </a:p>
          <a:p>
            <a:pPr algn="r" rtl="1">
              <a:spcAft>
                <a:spcPts val="1600"/>
              </a:spcAft>
              <a:buSzPct val="100000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به‌طور گسترده در تحقیقات آکادمیک و ابزارهایی </a:t>
            </a:r>
            <a:r>
              <a:rPr lang="en-US" sz="15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مانند</a:t>
            </a: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</a:t>
            </a:r>
            <a:r>
              <a:rPr lang="fa-IR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استفاده می‌شود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androguard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ANDROGUARD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معماری و اجزای اصلی Androguard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3134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کلاس اصلی برای بارگذاری بسته: مجوزها، Manifest، اجزا و منابع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54680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74136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313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DalvikVMFormat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57016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پردازش فایل‌های classes.dex و دسترسی به کلاس‌ها و متدها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0176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99632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9752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3134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82512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ساخت گراف فراخوانی (Call Graph) و تحلیل جریان داده بین متدها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805672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25128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5248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3134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16568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decompiler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08008" y="342900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بازسازی نمایش شبه‌کد Java از بایت‌کد Dalvik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شروع به کار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نصب و راه‌اندازی محیط کار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پیش‌نیاز: پایتون نسخه ۳.۸ یا بالاتر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توصیه می‌شود از یک محیط مجازی (venv) استفاده شود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نصب از طریق pip در چند ثانیه انجام می‌شود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24612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42900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3649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3649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33649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46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721608"/>
            <a:ext cx="1042416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CC9F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venv venv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source venv/bin/activate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400" dirty="0" err="1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</a:t>
            </a:r>
            <a:r>
              <a:rPr lang="en-US" sz="14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https://github.com/payatu/diva-android/raw/master/app/diva-beta.apk</a:t>
            </a:r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androguard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python3 -c "import androguard; print(androguard.__version__)"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BFFB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4.1.2</a:t>
            </a:r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4069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مثال کد </a:t>
            </a: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بارگذاری یک فایل APK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اولین قدم در هر تحلیل، بارگذاری بسته و دریافت سه شیء اصلی است: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766560" cy="3794760"/>
          </a:xfrm>
          <a:prstGeom prst="roundRect">
            <a:avLst>
              <a:gd name="adj" fmla="val 192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676656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load_apk.py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6126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CC9F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androguard.misc import AnalyzeAPK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d, dx =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AnalyzeAPK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(“</a:t>
            </a: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diva-</a:t>
            </a:r>
            <a:r>
              <a:rPr lang="en-US" sz="1350" dirty="0" err="1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beta.apk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C7B9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 -&gt; APKشیء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C7B9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  -&gt; شیء DalvikVMFormat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6C7B9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dx -&gt; شیءAnalysis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print(a.get_package())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print(a.get_androidversion_name())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8952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6680" y="251460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2679192"/>
            <a:ext cx="356616" cy="3566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03920" y="2423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0392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دسترسی به Manifest، مجوزها و اجزا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566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/>
        </p:spPr>
      </p:sp>
      <p:sp>
        <p:nvSpPr>
          <p:cNvPr id="19" name="Shape 16"/>
          <p:cNvSpPr/>
          <p:nvPr/>
        </p:nvSpPr>
        <p:spPr>
          <a:xfrm>
            <a:off x="7726680" y="37490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91363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0392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503920" y="4023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دسترسی به کلاس‌ها و بایت‌کد Dalvik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589520" y="48006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12240"/>
          </a:solidFill>
          <a:ln/>
        </p:spPr>
      </p:sp>
      <p:sp>
        <p:nvSpPr>
          <p:cNvPr id="24" name="Shape 20"/>
          <p:cNvSpPr/>
          <p:nvPr/>
        </p:nvSpPr>
        <p:spPr>
          <a:xfrm>
            <a:off x="7726680" y="498348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5148072"/>
            <a:ext cx="356616" cy="35661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03920" y="4892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503920" y="5257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گراف تحلیل و ارتباط بین متدها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343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استخراج مجوزهای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3794760"/>
          </a:xfrm>
          <a:prstGeom prst="roundRect">
            <a:avLst>
              <a:gd name="adj" fmla="val 192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676656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diva_permissions.py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6126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perms = a.get_permissions()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dangerous = [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for p in perms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"DANGEROUS" in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a.get_permission_protection_level(p)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dangerous: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print(f"[!] {p}")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4023360" cy="3794760"/>
          </a:xfrm>
          <a:prstGeom prst="roundRect">
            <a:avLst>
              <a:gd name="adj" fmla="val 2169"/>
            </a:avLst>
          </a:prstGeom>
          <a:solidFill>
            <a:srgbClr val="11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مجوزهای شناسایی‌شده در DIVA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WRITE_EXTERNAL_STORAGE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READ_PHONE_STATE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ACCESS_NETWORK_STATE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بررسی اجزای اپلیکیشن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diva_components.py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print("Activities:", a.get_activities())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print("Exported:   ", [c for c in a.get_activities()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if a.get_element("activity", "exported", name=c)])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864608"/>
            <a:ext cx="548640" cy="54864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996282"/>
            <a:ext cx="285293" cy="28529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4754880"/>
            <a:ext cx="9966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چند Activity در DIVA مانند APICredsActivity و InputValidation1Activity </a:t>
            </a:r>
            <a:r>
              <a:rPr lang="en-US" sz="12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به‌صورت</a:t>
            </a: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exported  تعریف شده‌اند</a:t>
            </a:r>
            <a:endParaRPr lang="en-US" sz="1200" dirty="0"/>
          </a:p>
          <a:p>
            <a:pPr algn="r" rtl="1">
              <a:spcAft>
                <a:spcPts val="600"/>
              </a:spcAft>
              <a:buSzPct val="100000"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این یعنی سایر اپلیکیشن‌های نصب‌شده روی دستگاه می‌توانند مستقیماً آن‌ها را فراخوانی کنند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یافتن رمزهای هاردکد شده در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 جست‌وجوی رشته‌های ثابت در بایت‌کد، می‌توان کلیدها و رمزهای عبور فاش‌شده در کد را پیدا کرد.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2677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2677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2677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488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find_hardcoded_strings.py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10424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re.compile(r"(password|secret|key|pin)", re.I)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dx.get_strings():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pattern.search(s.get_value()):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print(f"[FOUND] {s.get_value()}")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910328"/>
            <a:ext cx="548640" cy="54864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5042002"/>
            <a:ext cx="285293" cy="28529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48280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نمونه خروجی روی DIVA </a:t>
            </a:r>
            <a:r>
              <a:rPr lang="en-US" sz="1250" b="1" dirty="0" err="1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کلاس</a:t>
            </a:r>
            <a:r>
              <a:rPr lang="en-US" sz="12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APICreds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463040" y="51937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[FOUND] AIzaSyEHVZfPGA5EbxSk1cyxDLNwzT7zXVGV6ic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یافتن رمزنگاری ضعیف در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880360"/>
          </a:xfrm>
          <a:prstGeom prst="roundRect">
            <a:avLst>
              <a:gd name="adj" fmla="val 254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find_weak_crypto.py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10424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= [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("Ljavax/crypto/Cipher;", "getInstance"),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("Ljava/security/MessageDigest;", "getInstance"),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cls, method in targets: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dx.find_methods(classname=cls, methodname=method):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print(f"[FOUND] {m.class_name}-&gt;{m.name}")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Cipher.getInstance("DES")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کلاس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CryptoActivity در DIVA از الگوریتم منسوخ DES استفاده می‌کند</a:t>
            </a:r>
            <a:endParaRPr lang="en-US" sz="1250" dirty="0"/>
          </a:p>
          <a:p>
            <a:pPr algn="r" rtl="1"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MessageDigest.getInstance("MD5") </a:t>
            </a:r>
            <a:r>
              <a:rPr lang="en-US" sz="125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هش</a:t>
            </a:r>
            <a:r>
              <a:rPr lang="en-US" sz="12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ناامن برای ذخیره یا مقایسه داده حساس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 کد 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دیس‌اسمبلی متد بررسی رمز عبور در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0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disassemble_diva.py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= dx.get_method_analysis_by_name(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"Ljakhar/aseem/diva/APICreds;",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"checkPin",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"(Ljava/lang/String;)Z"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ins in method.get_method().get_instructions():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print(ins.get_output())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نمایش شبه‌کد Java :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print(method.get_method().get_source())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11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خروجی نمونه (Smali)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const-string v0, "1234"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invoke-virtual {v1, v0}, Ljava/lang/String;-&gt;equals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337560"/>
            <a:ext cx="475488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5204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معتبر («1234») مستقیماً در بایت‌کد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به‌صورت رشته ثابت فاش </a:t>
            </a:r>
            <a:r>
              <a:rPr lang="en-US" sz="13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شده</a:t>
            </a: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</a:t>
            </a: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نیاز</a:t>
            </a:r>
            <a:endParaRPr lang="en-US" sz="1300" dirty="0"/>
          </a:p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به اجرای برنامه یا حدس‌زدن مقدار.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2968" y="427435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تحلیل پیشرفته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گراف فراخوانی و ردیابی جریان داده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شیء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Analysis</a:t>
            </a:r>
            <a:r>
              <a:rPr lang="fa-IR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امکان ردیابی می‌دهد که داده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حساس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مثلاً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 IMEI</a:t>
            </a:r>
            <a:r>
              <a:rPr kumimoji="0" lang="fa-IR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 از کجا خوانده و در نهایت به کجا ارسال می‌شود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8008" y="26517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008" y="2651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TelephonyManager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.getDeviceId()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35528" y="3017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87088" y="26517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9050">
            <a:solidFill>
              <a:srgbClr val="5CC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7088" y="2651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متد میانی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(پردازش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ذخیره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04608" y="30175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56168" y="26517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56168" y="2651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HttpURLConnection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6F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.getOutputStream()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3434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262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44622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4622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" y="44622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343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trace_source_to_sink.py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481888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CC9F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= dx.find_methods(classname="Landroid/telephony/TelephonyManager;", methodname="getDeviceId")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6B6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sink = dx.find_methods(classname="Ljava/net/HttpURLConnection;", methodname="getOutputStream")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 = dx.get_all_paths(list(src)[0], list(sink)[0])  #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ردیابی مسیر بین دو متد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1314" y="49181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کاربرد عملی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پایپ‌لاین یک ارزیابی امنیتی واقعی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0284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1724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71804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27486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1724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دریافت نمونه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7444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جمع‌آوری فایل APK از منبع مورد ارزیابی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97684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753716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45156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485236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882" y="274868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5156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اطلاعات پایه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890876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Manifest، مجوزها، اجزا و امضای دیجیتال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11116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67148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158588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798668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314" y="2748686"/>
            <a:ext cx="309067" cy="3090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8588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جست‌وجوی الگو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204308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یافتن API های حساس، کلیدهای ثابت و URL ها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124548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380580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47202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8112100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746" y="2748686"/>
            <a:ext cx="309067" cy="30906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2020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تحلیل جریان داده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751774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ردیابی مسیر داده حساس تا خروجی شبکه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9437980" y="29260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9694012" y="2103120"/>
            <a:ext cx="2057400" cy="2743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9785452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E5A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10425532" y="2606040"/>
            <a:ext cx="594360" cy="5943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8178" y="2748686"/>
            <a:ext cx="309067" cy="30906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85452" y="33832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تولید گزارش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9831172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خروجی ساخت‌یافته (JSON/CSV) برای بازبینی تیم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892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بخش ۷ از 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نتیجه‌گیری تحلیل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نگاشت یافته‌های Androguard به آسیب‌پذیری‌های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oundRect">
            <a:avLst>
              <a:gd name="adj" fmla="val 2045"/>
            </a:avLst>
          </a:prstGeom>
          <a:solidFill>
            <a:srgbClr val="1122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آسیب‌پذیری DIVA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20640" y="2011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وضعیت شناسایی توسط Androguard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450592"/>
            <a:ext cx="104241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Hardcoded Secrets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7919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2606040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کلید API و PIN ثابت در رشته‌های بایت‌کد یافت شد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311810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Cryptography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1912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3118104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استفاده از DES و MD5 در CryptoActivity شناسایی شد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36301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Control</a:t>
            </a:r>
            <a:endParaRPr lang="en-US" sz="12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033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32120" y="3630168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چندین Activity به‌صورت exported شناسایی شدند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68680" y="414223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Data Storage</a:t>
            </a:r>
            <a:endParaRPr lang="en-US" sz="12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21538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4142232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 شناسایی جزئی از طریق بررسی رشته‌های SharedPreferences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68680" y="465429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Logging</a:t>
            </a:r>
            <a:endParaRPr lang="en-US" sz="12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72744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32120" y="4654296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نیازمند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بررسی دستی کد یا </a:t>
            </a: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پویا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868680" y="51663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Validation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5239512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32120" y="5166360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نیازمند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Fuzzing یا </a:t>
            </a: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تحلیل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پویا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نکات مهم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محدودیت‌ها و نکات هشدار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کدهای</a:t>
            </a: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obfuscate</a:t>
            </a:r>
            <a:r>
              <a:rPr lang="fa-IR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و رمزنگاری‌شده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ابزارهای static analysis در برابر کدهای پیچیده‌شده (obfuscated) یا بارگذاری پویای کد دچار محدودیت می‌شوند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بالا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یافتن یک الگو یا API حساس به‌معنی وجود آسیب‌پذیری قطعی نیست؛ نیاز به بررسی دستی دارد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پوشش‌ندادن رفتار زمان اجرا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برخی رفتارهای مخرب فقط هنگام اجرا (مثلاً پس از دریافت دستور از سرور) آشکار می‌شوند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ملاحظات قانونی و اخلاقی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ارزیابی امنیتی باید تنها با مجوز صریح و در چارچوب قانونی انجام شود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224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جمع‌بندی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جمع‌بندی و منابع تکمیلی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پایتون + Androguard امکان تحلیل ایستای سریع و </a:t>
            </a:r>
            <a:r>
              <a:rPr lang="en-US" sz="1450" dirty="0" err="1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اتوماسیون‌پذیر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APK</a:t>
            </a:r>
            <a:r>
              <a:rPr lang="fa-IR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را فراهم می‌کند</a:t>
            </a:r>
            <a:endParaRPr lang="en-US" sz="1450" dirty="0">
              <a:cs typeface="B Nazanin" panose="00000400000000000000" pitchFamily="2" charset="-78"/>
            </a:endParaRPr>
          </a:p>
          <a:p>
            <a:pPr algn="r" rtl="1">
              <a:spcAft>
                <a:spcPts val="1200"/>
              </a:spcAft>
              <a:buSzPct val="100000"/>
            </a:pPr>
            <a:r>
              <a:rPr lang="en-US" sz="1450" dirty="0" err="1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روی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DIVA</a:t>
            </a:r>
            <a:r>
              <a:rPr lang="fa-IR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توانستیم رمزهای هاردکد، رمزنگاری ضعیف و Activity</a:t>
            </a:r>
            <a:r>
              <a:rPr lang="fa-IR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 err="1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های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exported</a:t>
            </a:r>
            <a:r>
              <a:rPr lang="fa-IR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را بیابیم</a:t>
            </a:r>
            <a:endParaRPr lang="en-US" sz="1450" dirty="0">
              <a:cs typeface="B Nazanin" panose="00000400000000000000" pitchFamily="2" charset="-78"/>
            </a:endParaRPr>
          </a:p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بررسی مجوزها، اجزا، رشته‌های ثابت و API</a:t>
            </a:r>
            <a:r>
              <a:rPr lang="fa-IR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های حساس نقطه شروع هر ارزیابی است</a:t>
            </a:r>
            <a:endParaRPr lang="en-US" sz="1450" dirty="0">
              <a:cs typeface="B Nazanin" panose="00000400000000000000" pitchFamily="2" charset="-78"/>
            </a:endParaRPr>
          </a:p>
          <a:p>
            <a:pPr algn="r" rtl="1">
              <a:spcAft>
                <a:spcPts val="1200"/>
              </a:spcAft>
              <a:buSzPct val="100000"/>
            </a:pP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تحلیل ایستا مکمل تحلیل پویا (Frida/MobSF) </a:t>
            </a:r>
            <a:r>
              <a:rPr lang="fa-IR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450" dirty="0" err="1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است</a:t>
            </a:r>
            <a:r>
              <a:rPr lang="en-US" sz="1450" dirty="0">
                <a:solidFill>
                  <a:srgbClr val="E6F1FF"/>
                </a:solidFill>
                <a:ea typeface="Calibri" pitchFamily="34" charset="-122"/>
                <a:cs typeface="B Nazanin" panose="00000400000000000000" pitchFamily="2" charset="-78"/>
              </a:rPr>
              <a:t>، نه جایگزین آن</a:t>
            </a:r>
            <a:endParaRPr lang="en-US" sz="1450" dirty="0">
              <a:cs typeface="B Nazanin" panose="00000400000000000000" pitchFamily="2" charset="-7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7772400" cy="1737360"/>
          </a:xfrm>
          <a:prstGeom prst="roundRect">
            <a:avLst>
              <a:gd name="adj" fmla="val 4737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17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پیشنهادی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مستندات رسمی: androguard.readthedocs.io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مخزن GitHub: payatu/diva-android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استاندارد OWASP Mobile Application Security (MASVS)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52560" y="2834640"/>
            <a:ext cx="1828800" cy="1828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3273552"/>
            <a:ext cx="950976" cy="950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۹ از 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1901</Words>
  <Application>Microsoft Office PowerPoint</Application>
  <PresentationFormat>Widescreen</PresentationFormat>
  <Paragraphs>346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 Nazanin</vt:lpstr>
      <vt:lpstr>Calibri</vt:lpstr>
      <vt:lpstr>Cambria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آموزش پایتون و Androguard برای ارزیابی امنیتی اندروید - DIVA</dc:title>
  <dc:subject>PptxGenJS Presentation</dc:subject>
  <dc:creator>Python Security Training</dc:creator>
  <cp:lastModifiedBy>parniyan nakhei</cp:lastModifiedBy>
  <cp:revision>3</cp:revision>
  <dcterms:created xsi:type="dcterms:W3CDTF">2026-07-10T06:23:25Z</dcterms:created>
  <dcterms:modified xsi:type="dcterms:W3CDTF">2026-07-11T05:15:30Z</dcterms:modified>
</cp:coreProperties>
</file>