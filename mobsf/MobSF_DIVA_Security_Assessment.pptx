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076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11224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2926080" cy="2926080"/>
          </a:xfrm>
          <a:prstGeom prst="ellipse">
            <a:avLst/>
          </a:prstGeom>
          <a:solidFill>
            <a:srgbClr val="16305A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11191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SECURITY ASSESSMENT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 rtl="1">
              <a:buNone/>
            </a:pP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آموزش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MobSF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</a:t>
            </a:r>
            <a:r>
              <a:rPr lang="fa-IR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برای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ارزیابی امنیتی اپلیکیشن‌های اندروید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7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بررسی عملی روی اپلیکیشن آسیب‌پذیر DIVA (Damn Insecure and Vulnerable App)</a:t>
            </a:r>
            <a:endParaRPr lang="en-US" sz="1700" dirty="0">
              <a:cs typeface="B Nazanin" panose="00000400000000000000" pitchFamily="2" charset="-78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66928" y="4480560"/>
            <a:ext cx="2011680" cy="0"/>
          </a:xfrm>
          <a:prstGeom prst="line">
            <a:avLst/>
          </a:prstGeom>
          <a:noFill/>
          <a:ln w="25400">
            <a:solidFill>
              <a:srgbClr val="00E5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سطح: مقدماتی تا متوسط  •  شامل مثال‌های عملی و آزمایش زنده روی DIVA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6C6A73-0B18-0737-F083-DEC524FE3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9984" y="3859480"/>
            <a:ext cx="3932261" cy="32616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0" y="40476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سرفصل مطالب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در این جلسه چه می‌آموزیم؟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20976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118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786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چرا ابزار خودکار ارزیابی امنیتی لازم است؟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6596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394" y="20976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17720" y="25786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MobSF چیست و چه قابلیت‌هایی دارد؟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0" y="17373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196596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874" y="20976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29284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58200" y="25786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معماری داخلی MobSF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383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1188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4" y="374355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6118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2245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نصب و راه‌اندازی (Docker)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89120" y="3383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361188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9394" y="374355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5236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17720" y="42245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معرفی اپلیکیشن آسیب‌پذیر DIVA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229600" y="3383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58200" y="361188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9874" y="374355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29284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58200" y="42245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لیست آسیب‌پذیری‌های DIVA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548640" y="5029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77240" y="525780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914" y="5389474"/>
            <a:ext cx="285293" cy="28529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61188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777240" y="58704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آپلود و اجرای Static Analysis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4389120" y="5029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617720" y="525780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9394" y="5389474"/>
            <a:ext cx="285293" cy="285293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45236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4617720" y="58704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بررسی نتایج: مجوزها، کد، امتیاز امنیتی</a:t>
            </a:r>
            <a:endParaRPr lang="en-US" sz="1300" dirty="0"/>
          </a:p>
        </p:txBody>
      </p:sp>
      <p:sp>
        <p:nvSpPr>
          <p:cNvPr id="44" name="Shape 34"/>
          <p:cNvSpPr/>
          <p:nvPr/>
        </p:nvSpPr>
        <p:spPr>
          <a:xfrm>
            <a:off x="8229600" y="5029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458200" y="5257800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9874" y="5389474"/>
            <a:ext cx="285293" cy="285293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129284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8" name="Text 37"/>
          <p:cNvSpPr/>
          <p:nvPr/>
        </p:nvSpPr>
        <p:spPr>
          <a:xfrm>
            <a:off x="8458200" y="58704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Analysis و اتوماسیون با REST API</a:t>
            </a:r>
            <a:endParaRPr lang="en-US" sz="1300" dirty="0"/>
          </a:p>
        </p:txBody>
      </p:sp>
      <p:sp>
        <p:nvSpPr>
          <p:cNvPr id="49" name="Text 3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  <p:sp>
        <p:nvSpPr>
          <p:cNvPr id="50" name="Text 3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۱ از ۹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0" y="448971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مقدمه</a:t>
            </a:r>
            <a:endParaRPr lang="en-US" sz="1300" dirty="0"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چرا به پلتفرم خودکار ارزیابی نیاز داریم؟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848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سرعت و مقیاس‌پذیری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ارزیابی صدها اپلیکیشن در زمانی که تحلیل دستی هرکدام ساعت‌ها طول می‌کشد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22567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848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استانداردسازی گزارش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7889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خروجی یکسان و قابل‌مقایسه بر اساس چک‌لیست‌های OWASP MASVS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44055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336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پوشش ایستا و پویا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ترکیب Static و Dynamic Analysis در یک پلتفرم واحد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5196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859" y="44055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2336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مناسب برای CI/CD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92240" y="49377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امکان اتصال به پایپ‌لاین توسعه از طریق REST API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۱ از ۹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MOBSF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MobSF چیست؟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778240" y="1828800"/>
            <a:ext cx="1920240" cy="19202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098" y="2289658"/>
            <a:ext cx="998525" cy="9985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Mobile Security Framework پلتفرم متن‌باز ارزیابی امنیتی اندروید، iOS و Windows</a:t>
            </a:r>
            <a:endParaRPr lang="en-US" sz="1550" dirty="0">
              <a:cs typeface="B Nazanin" panose="00000400000000000000" pitchFamily="2" charset="-78"/>
            </a:endParaRPr>
          </a:p>
          <a:p>
            <a:pPr marL="342900" indent="-342900" algn="r" rtl="1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ترکیبی از تحلیل ایستا (Static)، پویا (Dynamic) و تحلیل ترافیک شبکه</a:t>
            </a:r>
            <a:endParaRPr lang="en-US" sz="1550" dirty="0">
              <a:cs typeface="B Nazanin" panose="00000400000000000000" pitchFamily="2" charset="-78"/>
            </a:endParaRPr>
          </a:p>
          <a:p>
            <a:pPr marL="342900" indent="-342900" algn="r" rtl="1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رابط کاربری وب + REST API برای اتوماسیون کامل فرآیند</a:t>
            </a:r>
            <a:endParaRPr lang="en-US" sz="1550" dirty="0">
              <a:cs typeface="B Nazanin" panose="00000400000000000000" pitchFamily="2" charset="-78"/>
            </a:endParaRPr>
          </a:p>
          <a:p>
            <a:pPr marL="342900" indent="-342900" algn="r" rtl="1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خروجی: گزارش جامع شامل امتیاز امنیتی و نگاشت به </a:t>
            </a:r>
            <a:r>
              <a:rPr lang="en-US" sz="15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MASVS/Top 10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525780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1224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2578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github.com/MobSF/Mobile-Security-Framework-MobSF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۲ از ۹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MOBSF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معماری داخلی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MobSF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4884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23134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دریافت فایل APK/IPA و شناسایی نوع و ساختار بسته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54680" y="32918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A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374136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34256" y="214884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31343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65576" y="3017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Analyzer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57016" y="35661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استخراج Manifest، کد، منابع و رشته‌های حساس بدون اجرای برنامه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80176" y="32918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A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199632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59752" y="214884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231343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91072" y="3017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Analyzer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382512" y="35661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اجرای برنامه روی Emulator/دستگاه و رصد رفتار زمان اجرا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805672" y="329184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5A0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9025128" y="187452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85248" y="2148840"/>
            <a:ext cx="685800" cy="685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2313432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16568" y="3017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گزارش‌ساز + REST API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208008" y="35661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ذخیره‌سازی نتایج در پایگاه‌داده و ارائه گزارش نهایی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۲ از ۹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0" y="4160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شروع به کار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نصب و راه‌اندازی با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ساده‌ترین و پایدارترین روش، استفاده از تصویر رسمی Docker است</a:t>
            </a:r>
            <a:endParaRPr lang="en-US" sz="1450" dirty="0">
              <a:cs typeface="B Nazanin" panose="00000400000000000000" pitchFamily="2" charset="-78"/>
            </a:endParaRPr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رابط وب به‌صورت پیش‌فرض روی پورت ۸۰۰۰ در دسترس قرار می‌گیرد</a:t>
            </a:r>
            <a:endParaRPr lang="en-US" sz="1450" dirty="0">
              <a:cs typeface="B Nazanin" panose="00000400000000000000" pitchFamily="2" charset="-78"/>
            </a:endParaRPr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برای Dynamic Analysis نیاز به دستگاه/شبیه‌ساز اندروید روت‌شده است</a:t>
            </a:r>
            <a:endParaRPr lang="en-US" sz="1450" dirty="0">
              <a:cs typeface="B Nazanin" panose="00000400000000000000" pitchFamily="2" charset="-7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310896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29184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32278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2278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32278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1089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584448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pull opensecurity/mobile-security-framework-mobsf:latest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run -it --rm \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-p 8000:8000 \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opensecurity/mobile-security-framework-mobsf:latest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C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رابط کاربری در دسترس است :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6BF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http://localhost:8000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۳ از ۹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0" y="423237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شروع به کار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رابط کاربری و روند آپلود اپلیکیشن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8412480" cy="932688"/>
          </a:xfrm>
          <a:prstGeom prst="roundRect">
            <a:avLst>
              <a:gd name="adj" fmla="val 7843"/>
            </a:avLst>
          </a:prstGeom>
          <a:solidFill>
            <a:srgbClr val="11224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66928" cy="566928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223918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93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74520" y="2048256"/>
            <a:ext cx="6858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کشیدن و رها کردن فایل APK در صفحه اصلی MobSF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962656"/>
            <a:ext cx="8412480" cy="932688"/>
          </a:xfrm>
          <a:prstGeom prst="roundRect">
            <a:avLst>
              <a:gd name="adj" fmla="val 7843"/>
            </a:avLst>
          </a:prstGeom>
          <a:solidFill>
            <a:srgbClr val="112240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145536"/>
            <a:ext cx="566928" cy="566928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03" y="328159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035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874520" y="3090672"/>
            <a:ext cx="6858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شروع خودکار Static Analysis بلافاصله پس از آپلود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005072"/>
            <a:ext cx="8412480" cy="932688"/>
          </a:xfrm>
          <a:prstGeom prst="roundRect">
            <a:avLst>
              <a:gd name="adj" fmla="val 7843"/>
            </a:avLst>
          </a:prstGeom>
          <a:solidFill>
            <a:srgbClr val="112240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187952"/>
            <a:ext cx="566928" cy="566928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03" y="4324015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78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874520" y="4133088"/>
            <a:ext cx="6858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نمایش گزارش کامل در چند ثانیه تا چند دقیقه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5047488"/>
            <a:ext cx="8412480" cy="932688"/>
          </a:xfrm>
          <a:prstGeom prst="roundRect">
            <a:avLst>
              <a:gd name="adj" fmla="val 7843"/>
            </a:avLst>
          </a:prstGeom>
          <a:solidFill>
            <a:srgbClr val="112240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230368"/>
            <a:ext cx="566928" cy="566928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303" y="5366431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874520" y="5175504"/>
            <a:ext cx="6858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امکان دانلود گزارش PDF/JSON یا مشاهده در مرورگر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9235440" y="1920240"/>
            <a:ext cx="2377440" cy="3840480"/>
          </a:xfrm>
          <a:prstGeom prst="roundRect">
            <a:avLst>
              <a:gd name="adj" fmla="val 3846"/>
            </a:avLst>
          </a:prstGeom>
          <a:solidFill>
            <a:srgbClr val="16305A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829800" y="2286000"/>
            <a:ext cx="1188720" cy="1188720"/>
          </a:xfrm>
          <a:prstGeom prst="ellipse">
            <a:avLst/>
          </a:prstGeom>
          <a:solidFill>
            <a:srgbClr val="0D2038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5093" y="2571293"/>
            <a:ext cx="618134" cy="61813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3544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diva.apk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235440" y="4023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آماده برای آپلود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۳ از ۹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معرفی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DIVA</a:t>
            </a:r>
            <a:r>
              <a:rPr lang="fa-IR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اپلیکیشن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آسیب‌پذیر آموزشی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69680" y="1920240"/>
            <a:ext cx="1828800" cy="182880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2359152"/>
            <a:ext cx="950976" cy="950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DIVA = Damn Insecure and Vulnerable App؛ اپلیکیشنی طراحی‌شده برای آموزش امنیت اندروید</a:t>
            </a:r>
            <a:endParaRPr lang="en-US" sz="1500" dirty="0">
              <a:cs typeface="B Nazanin" panose="00000400000000000000" pitchFamily="2" charset="-78"/>
            </a:endParaRPr>
          </a:p>
          <a:p>
            <a:pPr marL="342900" indent="-342900" algn="r" rtl="1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به‌صورت عمدی حاوی آسیب‌پذیری‌های رایج OWASP Mobile Top 10 است</a:t>
            </a:r>
            <a:endParaRPr lang="en-US" sz="1500" dirty="0">
              <a:cs typeface="B Nazanin" panose="00000400000000000000" pitchFamily="2" charset="-78"/>
            </a:endParaRPr>
          </a:p>
          <a:p>
            <a:pPr marL="342900" indent="-342900" algn="r" rtl="1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محیطی امن و قانونی برای تمرین ارزیابی امنیتی بدون نگرانی حقوقی</a:t>
            </a:r>
            <a:endParaRPr lang="en-US" sz="1500" dirty="0">
              <a:cs typeface="B Nazanin" panose="00000400000000000000" pitchFamily="2" charset="-78"/>
            </a:endParaRPr>
          </a:p>
          <a:p>
            <a:pPr marL="342900" indent="-342900" algn="r" rtl="1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متن‌باز و به‌صورت رایگان روی GitHub در دسترس است</a:t>
            </a:r>
            <a:endParaRPr lang="en-US" sz="1500" dirty="0">
              <a:cs typeface="B Nazanin" panose="00000400000000000000" pitchFamily="2" charset="-78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525780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1224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2578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github.com/payatu/diva-android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۴ از ۹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آسیب‌پذیری‌های موجود در DIVA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84248"/>
            <a:ext cx="502920" cy="50292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2104949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587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Logging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95351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0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چاپ اطلاعات </a:t>
            </a:r>
            <a:r>
              <a:rPr lang="en-US" sz="108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حساس</a:t>
            </a:r>
            <a:r>
              <a:rPr lang="en-US" sz="10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8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رمز</a:t>
            </a:r>
            <a:r>
              <a:rPr lang="en-US" sz="10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8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عبور</a:t>
            </a:r>
            <a:r>
              <a:rPr lang="en-US" sz="10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در Logcat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79976" y="17830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1984248"/>
            <a:ext cx="502920" cy="50292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845" y="2104949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587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Secrets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81144" y="295351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0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کلید API و رمز عبور به‌صورت ثابت در کد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211312" y="17830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984248"/>
            <a:ext cx="502920" cy="50292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181" y="210494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5877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Data Storage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412480" y="2953512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0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ذخیره داده حساس در SharedPreferences بدون رمزنگاری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877056"/>
            <a:ext cx="502920" cy="50292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9" y="3997757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480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48463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0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عدم اعتبارسنجی ورودی، امکان SQL Injection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379976" y="3675888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81144" y="3877056"/>
            <a:ext cx="502920" cy="50292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845" y="3997757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81144" y="4480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Issues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81144" y="48463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0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های Exported بدون کنترل دسترسی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211312" y="3675888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3877056"/>
            <a:ext cx="502920" cy="50292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3181" y="3997757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0" y="4480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Cryptography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412480" y="48463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0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استفاده از الگوریتم‌های رمزنگاری ضعیف یا کلید ثابت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۴ از ۹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43010" y="377143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آزمایش عملی</a:t>
            </a:r>
            <a:endParaRPr lang="en-US" sz="1300" dirty="0"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آپلود DIVA و اجرای Static Analysis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531620" y="251460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239" y="26682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3375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دریافت فایل diva-beta.apk از مخزن رسمی GitHub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154680" y="297180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A0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74136" y="19202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11296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57116" y="251460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735" y="266821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57016" y="33375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کشیدن فایل به رابط وب MobSF در آدرس localhost:8000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80176" y="297180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A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99632" y="19202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336792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7182612" y="251460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231" y="2668219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82512" y="33375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مشاهده گزارش خودکار شامل امتیاز امنیتی و یافته‌های کد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805672" y="297180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A0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9025128" y="19202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162288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10008108" y="2514600"/>
            <a:ext cx="640080" cy="64008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1727" y="2668219"/>
            <a:ext cx="332842" cy="33284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08008" y="33375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مقایسه یافته‌ها با لیست آسیب‌پذیری‌های شناخته‌شده DIVA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51663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548640" y="516636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29" name="Shape 23"/>
          <p:cNvSpPr/>
          <p:nvPr/>
        </p:nvSpPr>
        <p:spPr>
          <a:xfrm>
            <a:off x="548640" y="534924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0" name="Shape 24"/>
          <p:cNvSpPr/>
          <p:nvPr/>
        </p:nvSpPr>
        <p:spPr>
          <a:xfrm>
            <a:off x="713232" y="52852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1" name="Shape 25"/>
          <p:cNvSpPr/>
          <p:nvPr/>
        </p:nvSpPr>
        <p:spPr>
          <a:xfrm>
            <a:off x="914400" y="52852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2" name="Shape 26"/>
          <p:cNvSpPr/>
          <p:nvPr/>
        </p:nvSpPr>
        <p:spPr>
          <a:xfrm>
            <a:off x="1115568" y="52852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3" name="Text 27"/>
          <p:cNvSpPr/>
          <p:nvPr/>
        </p:nvSpPr>
        <p:spPr>
          <a:xfrm>
            <a:off x="1371600" y="51663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868680" y="5641848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-F 'file=@diva-beta.apk' \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-H 'Authorization: &lt;API_KEY&gt;' \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http://localhost:8000/api/v1/upload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۵ از ۹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2812" y="43163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نتایج STATIC ANALYSIS</a:t>
            </a:r>
            <a:endParaRPr lang="en-US" sz="1300" dirty="0">
              <a:cs typeface="B Nazanin" panose="00000400000000000000" pitchFamily="2" charset="-7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بررسی مجوزها و AndroidManifest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گزارش MobSF به‌طور خودکار مجوزهای خطرناک را شناسایی و سطح ریسک هرکدام را نمایش می‌دهد.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6583680" cy="3657600"/>
          </a:xfrm>
          <a:prstGeom prst="roundRect">
            <a:avLst>
              <a:gd name="adj" fmla="val 2250"/>
            </a:avLst>
          </a:prstGeom>
          <a:solidFill>
            <a:srgbClr val="1122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مجوز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سطح ریسک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603504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READ_SMS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0" y="2971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خطرناک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59359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WRITE_EXTERNAL_STORAGE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35935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خطرناک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21538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0" y="421538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5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عادی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8371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ACCESS_NETWORK_STATE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0" y="48371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5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عادی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2286000"/>
            <a:ext cx="4251960" cy="3657600"/>
          </a:xfrm>
          <a:prstGeom prst="roundRect">
            <a:avLst>
              <a:gd name="adj" fmla="val 2250"/>
            </a:avLst>
          </a:prstGeom>
          <a:solidFill>
            <a:srgbClr val="112240"/>
          </a:solidFill>
          <a:ln/>
        </p:spPr>
      </p:sp>
      <p:sp>
        <p:nvSpPr>
          <p:cNvPr id="18" name="Shape 16"/>
          <p:cNvSpPr/>
          <p:nvPr/>
        </p:nvSpPr>
        <p:spPr>
          <a:xfrm>
            <a:off x="7635240" y="2514600"/>
            <a:ext cx="594360" cy="59436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886" y="2657246"/>
            <a:ext cx="309067" cy="30906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36676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نکات کلیدی Manifest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635240" y="324612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چند Activity به‌صورت exported="true" تعریف شده‌اند</a:t>
            </a:r>
            <a:endParaRPr lang="en-US" sz="120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minSdkVersion پایین، امکان اجرا روی نسخه‌های آسیب‌پذیر</a:t>
            </a:r>
            <a:endParaRPr lang="en-US" sz="120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debuggable="true" در نسخه build فعال است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۶ از ۹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نتایج STATIC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تحلیل کد: کلیدهای ثابت و رمزنگاری ضعیف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476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9476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9476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8288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MobSF Code Analysis — LoginActivity.java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304288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secretKey = "MyHardcodedKey123";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 cipher = Cipher.getInstance("DES");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Log.d("DIVA", "password entered: " + password);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112240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4434840"/>
            <a:ext cx="475488" cy="475488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49" y="4548957"/>
            <a:ext cx="247254" cy="24725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43982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Cryptographic Key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371600" y="4672584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کلید رمزنگاری در متن کد به‌صورت ثابت قرار </a:t>
            </a:r>
            <a:r>
              <a:rPr lang="en-US" sz="110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دارد</a:t>
            </a: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Severity: High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512064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112240"/>
          </a:solidFill>
          <a:ln/>
        </p:spPr>
      </p:sp>
      <p:sp>
        <p:nvSpPr>
          <p:cNvPr id="18" name="Shape 15"/>
          <p:cNvSpPr/>
          <p:nvPr/>
        </p:nvSpPr>
        <p:spPr>
          <a:xfrm>
            <a:off x="713232" y="5212080"/>
            <a:ext cx="475488" cy="475488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49" y="5326197"/>
            <a:ext cx="247254" cy="24725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371600" y="51755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الگوریتم DES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1371600" y="5449824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الگوریتم رمزنگاری منسوخ و </a:t>
            </a:r>
            <a:r>
              <a:rPr lang="en-US" sz="110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ناامن</a:t>
            </a: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Severity: High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48640" y="589788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112240"/>
          </a:solidFill>
          <a:ln/>
        </p:spPr>
      </p:sp>
      <p:sp>
        <p:nvSpPr>
          <p:cNvPr id="23" name="Shape 19"/>
          <p:cNvSpPr/>
          <p:nvPr/>
        </p:nvSpPr>
        <p:spPr>
          <a:xfrm>
            <a:off x="713232" y="5989320"/>
            <a:ext cx="475488" cy="475488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49" y="6103437"/>
            <a:ext cx="247254" cy="24725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71600" y="59527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افشای اطلاعات در Log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1371600" y="6227064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چاپ رمز عبور در خروجی Logcat — Severity: Medium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۶ از ۹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نتایج STATIC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امتیاز امنیتی و نگاشت به استانداردها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3931920"/>
          </a:xfrm>
          <a:prstGeom prst="roundRect">
            <a:avLst>
              <a:gd name="adj" fmla="val 2778"/>
            </a:avLst>
          </a:prstGeom>
          <a:solidFill>
            <a:srgbClr val="11224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امتیاز امنیتی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32</a:t>
            </a:r>
            <a:endParaRPr lang="en-US" sz="7200" dirty="0">
              <a:cs typeface="B Nazanin" panose="00000400000000000000" pitchFamily="2" charset="-78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از ۱۰۰ </a:t>
            </a:r>
            <a:r>
              <a:rPr lang="en-US" sz="130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ریسک</a:t>
            </a:r>
            <a:r>
              <a:rPr lang="en-US" sz="13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بالا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4251960"/>
            <a:ext cx="26517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4348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1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عمداً پایین نگه داشته شده</a:t>
            </a:r>
            <a:endParaRPr lang="en-US" sz="1150" dirty="0">
              <a:cs typeface="B Nazanin" panose="00000400000000000000" pitchFamily="2" charset="-78"/>
            </a:endParaRPr>
          </a:p>
          <a:p>
            <a:pPr marL="0" indent="0" algn="ctr" rtl="1">
              <a:buNone/>
            </a:pPr>
            <a:r>
              <a:rPr lang="en-US" sz="11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برای اهداف آموزشی</a:t>
            </a:r>
            <a:endParaRPr lang="en-US" sz="1150" dirty="0">
              <a:cs typeface="B Nazanin" panose="00000400000000000000" pitchFamily="2" charset="-7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06240" y="1920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توزیع یافته‌ها بر اساس شدت</a:t>
            </a:r>
            <a:endParaRPr lang="en-US" sz="1500" dirty="0">
              <a:cs typeface="B Nazanin" panose="00000400000000000000" pitchFamily="2" charset="-7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06240" y="2514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0" y="2560320"/>
            <a:ext cx="4754880" cy="274320"/>
          </a:xfrm>
          <a:prstGeom prst="roundRect">
            <a:avLst>
              <a:gd name="adj" fmla="val 13333"/>
            </a:avLst>
          </a:prstGeom>
          <a:solidFill>
            <a:srgbClr val="16305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0" y="2560320"/>
            <a:ext cx="2037806" cy="274320"/>
          </a:xfrm>
          <a:prstGeom prst="roundRect">
            <a:avLst>
              <a:gd name="adj" fmla="val 13333"/>
            </a:avLst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1037844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206240" y="3291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0" y="3337560"/>
            <a:ext cx="4754880" cy="274320"/>
          </a:xfrm>
          <a:prstGeom prst="roundRect">
            <a:avLst>
              <a:gd name="adj" fmla="val 13333"/>
            </a:avLst>
          </a:prstGeom>
          <a:solidFill>
            <a:srgbClr val="16305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0" y="3337560"/>
            <a:ext cx="3056709" cy="274320"/>
          </a:xfrm>
          <a:prstGeom prst="roundRect">
            <a:avLst>
              <a:gd name="adj" fmla="val 13333"/>
            </a:avLst>
          </a:prstGeom>
          <a:solidFill>
            <a:srgbClr val="FFBD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378440" y="32918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06240" y="4069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0" y="4114800"/>
            <a:ext cx="4754880" cy="274320"/>
          </a:xfrm>
          <a:prstGeom prst="roundRect">
            <a:avLst>
              <a:gd name="adj" fmla="val 13333"/>
            </a:avLst>
          </a:prstGeom>
          <a:solidFill>
            <a:srgbClr val="16305A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0" y="4114800"/>
            <a:ext cx="4754880" cy="274320"/>
          </a:xfrm>
          <a:prstGeom prst="roundRect">
            <a:avLst>
              <a:gd name="adj" fmla="val 13333"/>
            </a:avLst>
          </a:prstGeom>
          <a:solidFill>
            <a:srgbClr val="5CC9F5"/>
          </a:solidFill>
          <a:ln/>
        </p:spPr>
      </p:sp>
      <p:sp>
        <p:nvSpPr>
          <p:cNvPr id="22" name="Text 20"/>
          <p:cNvSpPr/>
          <p:nvPr/>
        </p:nvSpPr>
        <p:spPr>
          <a:xfrm>
            <a:off x="10378440" y="4069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06240" y="4754880"/>
            <a:ext cx="6949440" cy="1005840"/>
          </a:xfrm>
          <a:prstGeom prst="roundRect">
            <a:avLst>
              <a:gd name="adj" fmla="val 7273"/>
            </a:avLst>
          </a:prstGeom>
          <a:solidFill>
            <a:srgbClr val="112240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0" y="47548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نگاشت به </a:t>
            </a:r>
            <a:r>
              <a:rPr lang="en-US" sz="13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Mobile Top 10: M1, M2, M5, M9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۶ از ۹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0" y="39776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تحلیل</a:t>
            </a: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پویا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Analysis در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MobSF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علاوه بر تحلیل ایستا، MobSF امکان اجرای واقعی اپلیکیشن و رصد رفتار آن را نیز فراهم می‌کند.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11224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42032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2673706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4688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5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پیش‌نیاز دستگاه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06324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دستگاه یا شبیه‌ساز اندروید روت‌شده / MobSF VM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228600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112240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542032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194" y="2673706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4688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5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مبتنی بر Frida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46520" y="306324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تزریق کد برای رصد فراخوانی API ها در زمان اجرا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02336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112240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4279392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4" y="4411066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20624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5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رصد ترافیک شبکه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77240" y="480060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ثبت و تحلیل درخواست‌های HTTP/HTTPS اپلیکیشن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17920" y="4023360"/>
            <a:ext cx="5349240" cy="1508760"/>
          </a:xfrm>
          <a:prstGeom prst="roundRect">
            <a:avLst>
              <a:gd name="adj" fmla="val 5455"/>
            </a:avLst>
          </a:prstGeom>
          <a:solidFill>
            <a:srgbClr val="112240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4279392"/>
            <a:ext cx="548640" cy="5486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8194" y="4411066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420624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5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استخراج داده زمان اجرا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446520" y="480060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بررسی فایل‌های ایجادشده، SQLite و داده‌های ذخیره‌شده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۷ از ۹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444417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اتوماسیون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اتوماسیون ارزیابی با REST API</a:t>
            </a:r>
            <a:r>
              <a:rPr lang="fa-IR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پایتون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 استفاده از REST API می‌توان کل فرآیند آپلود، اسکن و دریافت گزارش را در یک اسکریپت پایتون خودکار کرد.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931920"/>
          </a:xfrm>
          <a:prstGeom prst="roundRect">
            <a:avLst>
              <a:gd name="adj" fmla="val 1860"/>
            </a:avLst>
          </a:prstGeom>
          <a:solidFill>
            <a:srgbClr val="081422"/>
          </a:solidFill>
          <a:ln w="12700">
            <a:solidFill>
              <a:srgbClr val="1F3A5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86000"/>
            <a:ext cx="11064240" cy="365760"/>
          </a:xfrm>
          <a:prstGeom prst="roundRect">
            <a:avLst>
              <a:gd name="adj" fmla="val 20000"/>
            </a:avLst>
          </a:prstGeom>
          <a:solidFill>
            <a:srgbClr val="0D1F3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68880"/>
            <a:ext cx="11064240" cy="1828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4048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4048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" y="24048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286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mobsf_automation.py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761488"/>
            <a:ext cx="10424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5CC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requests</a:t>
            </a:r>
            <a:endParaRPr lang="en-US" sz="800" dirty="0"/>
          </a:p>
          <a:p>
            <a:pPr marL="0" indent="0" algn="l">
              <a:lnSpc>
                <a:spcPct val="125000"/>
              </a:lnSpc>
              <a:buNone/>
            </a:pPr>
            <a:endParaRPr lang="en-US" sz="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 = "&lt;your_mobsf_api_key&gt;"</a:t>
            </a:r>
            <a:endParaRPr lang="en-US" sz="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 = "http://localhost:8000"</a:t>
            </a:r>
            <a:endParaRPr lang="en-US" sz="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 = {"Authorization": API_KEY}</a:t>
            </a:r>
            <a:endParaRPr lang="en-US" sz="800" dirty="0"/>
          </a:p>
          <a:p>
            <a:pPr marL="0" indent="0" algn="l">
              <a:lnSpc>
                <a:spcPct val="125000"/>
              </a:lnSpc>
              <a:buNone/>
            </a:pPr>
            <a:endParaRPr lang="en-US" sz="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6C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۱. آپلود فایل</a:t>
            </a:r>
            <a:endParaRPr lang="en-US" sz="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open("diva-beta.apk", "rb") as f:</a:t>
            </a:r>
            <a:endParaRPr lang="en-US" sz="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requests.post(f"{SERVER}/api/v1/upload",</a:t>
            </a:r>
            <a:endParaRPr lang="en-US" sz="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files={"file": f}, headers=headers)</a:t>
            </a:r>
            <a:endParaRPr lang="en-US" sz="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scan_hash = r.json()["hash"]</a:t>
            </a:r>
            <a:endParaRPr lang="en-US" sz="800" dirty="0"/>
          </a:p>
          <a:p>
            <a:pPr marL="0" indent="0" algn="l">
              <a:lnSpc>
                <a:spcPct val="125000"/>
              </a:lnSpc>
              <a:buNone/>
            </a:pPr>
            <a:endParaRPr lang="en-US" sz="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6C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۲. اجرای اسکن</a:t>
            </a:r>
            <a:endParaRPr lang="en-US" sz="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requests.post(f"{SERVER}/api/v1/scan",</a:t>
            </a:r>
            <a:endParaRPr lang="en-US" sz="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data={"hash": scan_hash}, headers=headers)</a:t>
            </a:r>
            <a:endParaRPr lang="en-US" sz="800" dirty="0"/>
          </a:p>
          <a:p>
            <a:pPr marL="0" indent="0" algn="l">
              <a:lnSpc>
                <a:spcPct val="125000"/>
              </a:lnSpc>
              <a:buNone/>
            </a:pPr>
            <a:endParaRPr lang="en-US" sz="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6C7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۳. دریافت گزارش JSON</a:t>
            </a:r>
            <a:endParaRPr lang="en-US" sz="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= requests.post(f"{SERVER}/api/v1/report_json",</a:t>
            </a:r>
            <a:endParaRPr lang="en-US" sz="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data={"hash": scan_hash}, headers=headers)</a:t>
            </a:r>
            <a:endParaRPr lang="en-US" sz="8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print(report.json()["security_score"])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۷ از ۹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نتیجه‌گیری تحلیل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نگاشت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یافته‌های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MobSF</a:t>
            </a:r>
            <a:r>
              <a:rPr lang="fa-IR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 به آسیب‌پذیری‌های شناخته‌شده DIVA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023360"/>
          </a:xfrm>
          <a:prstGeom prst="roundRect">
            <a:avLst>
              <a:gd name="adj" fmla="val 2045"/>
            </a:avLst>
          </a:prstGeom>
          <a:solidFill>
            <a:srgbClr val="11224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آسیب‌پذیری DIVA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120640" y="20116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وضعیت شناسایی توسط MobSF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2450592"/>
            <a:ext cx="1042416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0604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Insecure Logging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679192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32120" y="2606040"/>
            <a:ext cx="5715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Log.d با محتوای رمز عبور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311810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Hardcoded Secrets</a:t>
            </a:r>
            <a:endParaRPr lang="en-US" sz="12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19125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3118104"/>
            <a:ext cx="5715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کلید رمزنگاری ثابت در LoginActivity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68680" y="363016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Insecure Data Storage</a:t>
            </a:r>
            <a:endParaRPr lang="en-US" sz="12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70332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32120" y="3630168"/>
            <a:ext cx="5715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 بدون رمزنگاری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868680" y="4142232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 Control</a:t>
            </a:r>
            <a:endParaRPr lang="en-US" sz="12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4215384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4142232"/>
            <a:ext cx="5715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های exported شناسایی‌شده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868680" y="4654296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 Cryptography</a:t>
            </a:r>
            <a:endParaRPr lang="en-US" sz="12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4727448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532120" y="4654296"/>
            <a:ext cx="5715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الگوریتم DES در Cipher.getInstance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868680" y="516636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Validation</a:t>
            </a:r>
            <a:endParaRPr lang="en-US" sz="12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5239512"/>
            <a:ext cx="292608" cy="29260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532120" y="5166360"/>
            <a:ext cx="5715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نیازمند</a:t>
            </a: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بررسی</a:t>
            </a:r>
            <a:r>
              <a:rPr lang="en-US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دستیDynamic</a:t>
            </a:r>
            <a:r>
              <a:rPr lang="fa-IR" sz="1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۸ از ۹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4462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نکات مهم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محدودیت‌ها و نکات هشدار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8483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نرخ بالای false positive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برخی یافته‌های Static Analysis نیازمند بررسی و تایید دستی هستند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22567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8483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نیاز به دستگاه روت‌شده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92240" y="27889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Analysis بدون محیط مناسب (روت/Frida) به‌طور کامل اجرا نمی‌شود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44055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3367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پوشش‌ندادن منطق پیچیده تجاری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9377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آسیب‌پذیری‌های منطقی (Business Logic) اغلب فقط با بررسی دستی یافت می‌شوند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12240"/>
          </a:solidFill>
          <a:ln/>
          <a:effectLst>
            <a:outerShdw blurRad="1016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51960"/>
            <a:ext cx="640080" cy="640080"/>
          </a:xfrm>
          <a:prstGeom prst="ellipse">
            <a:avLst/>
          </a:prstGeom>
          <a:solidFill>
            <a:srgbClr val="2A1A2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859" y="44055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23367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ملاحظات قانونی و اخلاقی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92240" y="49377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ارزیابی امنیتی باید تنها با مجوز صریح و در محیط آزمایشی مجاز انجام شود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۸ از ۹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12240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0233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جمع‌بندی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B Nazanin" panose="00000400000000000000" pitchFamily="2" charset="-78"/>
              </a:rPr>
              <a:t>جمع‌بندی و منابع تکمیلی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772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r" rtl="1">
              <a:spcAft>
                <a:spcPts val="1200"/>
              </a:spcAft>
              <a:buSzPct val="100000"/>
              <a:buChar char="•"/>
            </a:pPr>
            <a:r>
              <a:rPr lang="en-US" sz="150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MobSF</a:t>
            </a: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</a:t>
            </a:r>
            <a:r>
              <a:rPr lang="fa-IR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</a:t>
            </a:r>
            <a:r>
              <a:rPr lang="en-US" sz="1500" dirty="0" err="1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ارزیابی</a:t>
            </a: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امنیتی خودکار، سریع و قابل‌اتوماسیون اندروید/iOS ارائه می‌دهد</a:t>
            </a:r>
            <a:endParaRPr lang="en-US" sz="1500" dirty="0">
              <a:cs typeface="B Nazanin" panose="00000400000000000000" pitchFamily="2" charset="-78"/>
            </a:endParaRPr>
          </a:p>
          <a:p>
            <a:pPr marL="342900" indent="-342900" algn="r" rtl="1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DIVA محیطی امن و قانونی برای تمرین بر روی آسیب‌پذیری‌های واقعی است</a:t>
            </a:r>
            <a:endParaRPr lang="en-US" sz="1500" dirty="0">
              <a:cs typeface="B Nazanin" panose="00000400000000000000" pitchFamily="2" charset="-78"/>
            </a:endParaRPr>
          </a:p>
          <a:p>
            <a:pPr marL="342900" indent="-342900" algn="r" rtl="1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ترکیب Static + Dynamic Analysis</a:t>
            </a:r>
            <a:r>
              <a:rPr lang="fa-IR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</a:t>
            </a: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تصویر کامل‌تری از ریسک ارائه می‌دهد</a:t>
            </a:r>
            <a:endParaRPr lang="en-US" sz="1500" dirty="0">
              <a:cs typeface="B Nazanin" panose="00000400000000000000" pitchFamily="2" charset="-78"/>
            </a:endParaRPr>
          </a:p>
          <a:p>
            <a:pPr marL="342900" indent="-342900" algn="r" rtl="1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REST API</a:t>
            </a:r>
            <a:r>
              <a:rPr lang="fa-IR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</a:t>
            </a:r>
            <a:r>
              <a:rPr lang="en-US" sz="1500" dirty="0">
                <a:solidFill>
                  <a:srgbClr val="E6F1FF"/>
                </a:solidFill>
                <a:latin typeface="Calibri" pitchFamily="34" charset="0"/>
                <a:ea typeface="Calibri" pitchFamily="34" charset="-122"/>
                <a:cs typeface="B Nazanin" panose="00000400000000000000" pitchFamily="2" charset="-78"/>
              </a:rPr>
              <a:t> امکان یکپارچه‌سازی با پایپ‌لاین‌های CI/CD را فراهم می‌کند</a:t>
            </a:r>
            <a:endParaRPr lang="en-US" sz="1500" dirty="0">
              <a:cs typeface="B Nazanin" panose="00000400000000000000" pitchFamily="2" charset="-7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4480560"/>
            <a:ext cx="7772400" cy="1737360"/>
          </a:xfrm>
          <a:prstGeom prst="roundRect">
            <a:avLst>
              <a:gd name="adj" fmla="val 4737"/>
            </a:avLst>
          </a:prstGeom>
          <a:solidFill>
            <a:srgbClr val="11224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617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منابع پیشنهادی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7223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• </a:t>
            </a:r>
            <a:r>
              <a:rPr lang="en-US" sz="1250" dirty="0" err="1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مستندات</a:t>
            </a:r>
            <a:r>
              <a:rPr lang="en-US" sz="12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 </a:t>
            </a:r>
            <a:r>
              <a:rPr lang="en-US" sz="1250" dirty="0" err="1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رسمی</a:t>
            </a:r>
            <a:r>
              <a:rPr lang="en-US" sz="12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 docs.mobsf.live</a:t>
            </a:r>
            <a:endParaRPr lang="en-US" sz="1250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• مخزن GitHub پروژه DIVA</a:t>
            </a:r>
            <a:endParaRPr lang="en-US" sz="1250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en-US" sz="125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B Nazanin" panose="00000400000000000000" pitchFamily="2" charset="-78"/>
              </a:rPr>
              <a:t>• استاندارد OWASP Mobile Application Security (MASVS)</a:t>
            </a:r>
            <a:endParaRPr lang="en-US" sz="1250" dirty="0">
              <a:cs typeface="B Nazanin" panose="00000400000000000000" pitchFamily="2" charset="-7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052560" y="2834640"/>
            <a:ext cx="1828800" cy="18288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2" y="3273552"/>
            <a:ext cx="950976" cy="9509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بخش ۹ از ۹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1459</Words>
  <Application>Microsoft Office PowerPoint</Application>
  <PresentationFormat>Widescreen</PresentationFormat>
  <Paragraphs>287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 Nazanin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آموزش MobSF برای ارزیابی امنیتی اندروید - DIVA</dc:title>
  <dc:subject>PptxGenJS Presentation</dc:subject>
  <dc:creator>Mobile Security Training</dc:creator>
  <cp:lastModifiedBy>parniyan nakhei</cp:lastModifiedBy>
  <cp:revision>3</cp:revision>
  <dcterms:created xsi:type="dcterms:W3CDTF">2026-07-05T15:36:09Z</dcterms:created>
  <dcterms:modified xsi:type="dcterms:W3CDTF">2026-07-10T11:19:40Z</dcterms:modified>
</cp:coreProperties>
</file>